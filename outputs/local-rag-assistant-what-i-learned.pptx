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30222e1efd4c5d" /><Relationship Type="http://schemas.openxmlformats.org/officeDocument/2006/relationships/extended-properties" Target="/docProps/app.xml" Id="R0c2d95215d774fb0" /><Relationship Type="http://schemas.openxmlformats.org/officeDocument/2006/relationships/officeDocument" Target="/ppt/presentation.xml" Id="R2da14a3ad4364952" /></Relationships>
</file>

<file path=ppt/presentation.xml><?xml version="1.0" encoding="utf-8"?>
<p:presentation xmlns:p="http://schemas.openxmlformats.org/presentationml/2006/main">
  <p:sldMasterIdLst>
    <p:sldMasterId xmlns:r="http://schemas.openxmlformats.org/officeDocument/2006/relationships" id="2147483648" r:id="Red158e848786492f"/>
  </p:sldMasterIdLst>
  <p:notesMasterIdLst>
    <p:notesMasterId xmlns:r="http://schemas.openxmlformats.org/officeDocument/2006/relationships" r:id="R83de7e975c7048ff"/>
  </p:notesMasterIdLst>
  <p:sldIdLst>
    <p:sldId xmlns:r="http://schemas.openxmlformats.org/officeDocument/2006/relationships" id="256" r:id="Rfdc8aef99de84139"/>
    <p:sldId xmlns:r="http://schemas.openxmlformats.org/officeDocument/2006/relationships" id="257" r:id="Re2fd1e5ea33c4640"/>
    <p:sldId xmlns:r="http://schemas.openxmlformats.org/officeDocument/2006/relationships" id="258" r:id="R605579475dc04aa2"/>
    <p:sldId xmlns:r="http://schemas.openxmlformats.org/officeDocument/2006/relationships" id="259" r:id="R95def601fa904a67"/>
    <p:sldId xmlns:r="http://schemas.openxmlformats.org/officeDocument/2006/relationships" id="260" r:id="Re3f412fde3c04300"/>
    <p:sldId xmlns:r="http://schemas.openxmlformats.org/officeDocument/2006/relationships" id="261" r:id="R6aa31adb56a94bbf"/>
    <p:sldId xmlns:r="http://schemas.openxmlformats.org/officeDocument/2006/relationships" id="262" r:id="R2c07f7444ead4e47"/>
    <p:sldId xmlns:r="http://schemas.openxmlformats.org/officeDocument/2006/relationships" id="263" r:id="R526e18678c214852"/>
    <p:sldId xmlns:r="http://schemas.openxmlformats.org/officeDocument/2006/relationships" id="264" r:id="R3242ebe5d14348c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7f1aa27bf14927" /><Relationship Type="http://schemas.openxmlformats.org/officeDocument/2006/relationships/slideMaster" Target="/ppt/slideMasters/slideMaster1.xml" Id="Red158e848786492f" /><Relationship Type="http://schemas.openxmlformats.org/officeDocument/2006/relationships/notesMaster" Target="/ppt/notesMasters/notesMaster1.xml" Id="R83de7e975c7048ff" /><Relationship Type="http://schemas.openxmlformats.org/officeDocument/2006/relationships/presProps" Target="/ppt/presProps.xml" Id="R084eac3c07474b38" /><Relationship Type="http://schemas.openxmlformats.org/officeDocument/2006/relationships/tableStyles" Target="/ppt/tableStyles.xml" Id="R759669e0e97649df" /><Relationship Type="http://schemas.openxmlformats.org/officeDocument/2006/relationships/slide" Target="/ppt/slides/slide1.xml" Id="Rfdc8aef99de84139" /><Relationship Type="http://schemas.openxmlformats.org/officeDocument/2006/relationships/slide" Target="/ppt/slides/slide2.xml" Id="Re2fd1e5ea33c4640" /><Relationship Type="http://schemas.openxmlformats.org/officeDocument/2006/relationships/slide" Target="/ppt/slides/slide3.xml" Id="R605579475dc04aa2" /><Relationship Type="http://schemas.openxmlformats.org/officeDocument/2006/relationships/slide" Target="/ppt/slides/slide4.xml" Id="R95def601fa904a67" /><Relationship Type="http://schemas.openxmlformats.org/officeDocument/2006/relationships/slide" Target="/ppt/slides/slide5.xml" Id="Re3f412fde3c04300" /><Relationship Type="http://schemas.openxmlformats.org/officeDocument/2006/relationships/slide" Target="/ppt/slides/slide6.xml" Id="R6aa31adb56a94bbf" /><Relationship Type="http://schemas.openxmlformats.org/officeDocument/2006/relationships/slide" Target="/ppt/slides/slide7.xml" Id="R2c07f7444ead4e47" /><Relationship Type="http://schemas.openxmlformats.org/officeDocument/2006/relationships/slide" Target="/ppt/slides/slide8.xml" Id="R526e18678c214852" /><Relationship Type="http://schemas.openxmlformats.org/officeDocument/2006/relationships/slide" Target="/ppt/slides/slide9.xml" Id="R3242ebe5d14348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ec61d25d9349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c8a095f07949ee" /><Relationship Type="http://schemas.openxmlformats.org/officeDocument/2006/relationships/notesMaster" Target="/ppt/notesMasters/notesMaster1.xml" Id="R85bd2c6100e44c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0d0851d8d6446c" /><Relationship Type="http://schemas.openxmlformats.org/officeDocument/2006/relationships/notesMaster" Target="/ppt/notesMasters/notesMaster1.xml" Id="R89eb1f2f285840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6fceaed48f4fe8" /><Relationship Type="http://schemas.openxmlformats.org/officeDocument/2006/relationships/notesMaster" Target="/ppt/notesMasters/notesMaster1.xml" Id="Rc44fcf4f938c44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d8eaba234844d2" /><Relationship Type="http://schemas.openxmlformats.org/officeDocument/2006/relationships/notesMaster" Target="/ppt/notesMasters/notesMaster1.xml" Id="R556fb3f98ff74e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1276eae1774940" /><Relationship Type="http://schemas.openxmlformats.org/officeDocument/2006/relationships/notesMaster" Target="/ppt/notesMasters/notesMaster1.xml" Id="R294de486855442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631213a83242a7" /><Relationship Type="http://schemas.openxmlformats.org/officeDocument/2006/relationships/notesMaster" Target="/ppt/notesMasters/notesMaster1.xml" Id="Rfc1ce92fab4842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69cdfbfd3f4a7a" /><Relationship Type="http://schemas.openxmlformats.org/officeDocument/2006/relationships/notesMaster" Target="/ppt/notesMasters/notesMaster1.xml" Id="Ra8bed69c9d304d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0ee7db973f4cb3" /><Relationship Type="http://schemas.openxmlformats.org/officeDocument/2006/relationships/notesMaster" Target="/ppt/notesMasters/notesMaster1.xml" Id="Rb070cf859cce44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e72bdddc5b4158" /><Relationship Type="http://schemas.openxmlformats.org/officeDocument/2006/relationships/notesMaster" Target="/ppt/notesMasters/notesMaster1.xml" Id="R340d2ff3a7fd4e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I am Bilgenur Pala. I built a fully local RAG assistant with Microsoft Foundry Local. This project taught me how model execution, retrieval, grounding, evaluation, testing, and product delivery must work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did not build the final application in one step. I first proved each component, then created ingestion and retrieval, grounded the answers, measured failures, hardened the system, and finally delivered the API, web interface, documentation, and public preview.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first lesson was that local AI begins with the device. Python and SDK compatibility determined what could run. I also learned to explore unfamiliar APIs with dir, type, and inspect.signature instead of guessing method names from outdated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RAG flow is simple but powerful. I embed the question, compare it with document vectors stored in SQLite, retrieve the top three passages, and place them in the system prompt. The local model then answers from that controlled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Grounding required two defenses: a measured similarity threshold and a strict decision-first prompt. The threshold correctly skips obviously unrelated questions, but evaluation showed that a high similarity score still does not guarantee that the retrieved context actually answers the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changed how I understood the system. The development set reached eight out of ten, but the frozen blind set reached seven. I learned that high similarity can still retrieve the wrong evidence, and a more fluent model can make an unsupported answer more convincing.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Testing made the project dependable. Dependency injection let me replace models and the database with fake clients, spies, and monkeypatches. The current suite verifies thirty-eight behaviors without loading a model, so it stays fast, deterministic, and useful during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system exposes one reusable RAG pipeline through the CLI, FastAPI, and a responsive learning page. I also published a clearly labeled interface preview. The hosted page demonstrates the experience, while the real models, documents, and inference stay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main learning is that local AI is a complete engineering system. The model is only one layer. Reliable results come from measured retrieval, explicit failure behavior, reusable software, automated tests, clear documentation, and honest communication of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597ae47a0b4f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1b18d315b444cc" /><Relationship Type="http://schemas.openxmlformats.org/officeDocument/2006/relationships/slideLayout" Target="/ppt/slideLayouts/slideLayout1.xml" Id="R80315433042f4d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315433042f4d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86719943bd41fb" /><Relationship Type="http://schemas.openxmlformats.org/officeDocument/2006/relationships/notesSlide" Target="/ppt/notesSlides/notesSlide1.xml" Id="Rc919f6b8751446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55ee89285e43da" /><Relationship Type="http://schemas.openxmlformats.org/officeDocument/2006/relationships/notesSlide" Target="/ppt/notesSlides/notesSlide2.xml" Id="R903405097aa941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155597af54403b" /><Relationship Type="http://schemas.openxmlformats.org/officeDocument/2006/relationships/notesSlide" Target="/ppt/notesSlides/notesSlide3.xml" Id="Re42383ec2b3c43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d12641d5f84dc5" /><Relationship Type="http://schemas.openxmlformats.org/officeDocument/2006/relationships/notesSlide" Target="/ppt/notesSlides/notesSlide4.xml" Id="R285702d3f35e42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b74f5b6db64092" /><Relationship Type="http://schemas.openxmlformats.org/officeDocument/2006/relationships/notesSlide" Target="/ppt/notesSlides/notesSlide5.xml" Id="Re13f9009815d4f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c872921bd94039" /><Relationship Type="http://schemas.openxmlformats.org/officeDocument/2006/relationships/notesSlide" Target="/ppt/notesSlides/notesSlide6.xml" Id="Rf1f3bb4f48a649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32e138ecf64ccb" /><Relationship Type="http://schemas.openxmlformats.org/officeDocument/2006/relationships/image" Target="/ppt/media/image.jpeg" Id="R6a8599eeabc74480" /><Relationship Type="http://schemas.openxmlformats.org/officeDocument/2006/relationships/notesSlide" Target="/ppt/notesSlides/notesSlide7.xml" Id="Rea4a09df30474d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ec748b687e94fcd" /><Relationship Type="http://schemas.openxmlformats.org/officeDocument/2006/relationships/image" Target="/ppt/media/image2.jpeg" Id="R4e46a744a8434715" /><Relationship Type="http://schemas.openxmlformats.org/officeDocument/2006/relationships/notesSlide" Target="/ppt/notesSlides/notesSlide8.xml" Id="R4cda161ea4ab4f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8a87f8c2d54567" /><Relationship Type="http://schemas.openxmlformats.org/officeDocument/2006/relationships/notesSlide" Target="/ppt/notesSlides/notesSlide9.xml" Id="R16ccdae356dc4506" /></Relationships>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8A586C-9194-4DA8-A95F-D50FEB801E49}"/>
              </a:ext>
            </a:extLst>
          </p:cNvPr>
          <p:cNvSpPr>
            <a:spLocks xmlns:a="http://schemas.openxmlformats.org/drawingml/2006/main" noGrp="1"/>
          </p:cNvSpPr>
          <p:nvPr/>
        </p:nvSpPr>
        <p:spPr>
          <a:xfrm xmlns:a="http://schemas.openxmlformats.org/drawingml/2006/main">
            <a:off x="8858250" y="0"/>
            <a:ext cx="3333750" cy="6858000"/>
          </a:xfrm>
          <a:prstGeom xmlns:a="http://schemas.openxmlformats.org/drawingml/2006/main" prst="rect">
            <a:avLst/>
          </a:prstGeom>
          <a:solidFill xmlns:a="http://schemas.openxmlformats.org/drawingml/2006/main">
            <a:srgbClr val="3561DC"/>
          </a:solidFill>
          <a:ln xmlns:a="http://schemas.openxmlformats.org/drawingml/2006/main" w="0">
            <a:solidFill>
              <a:srgbClr val="3561DC"/>
            </a:solidFill>
            <a:prstDash val="solid"/>
          </a:ln>
        </p:spPr>
      </p:sp>
      <p:sp>
        <p:nvSpPr>
          <p:cNvPr id="2" name="">
            <a:extLst xmlns:a="http://schemas.openxmlformats.org/drawingml/2006/main">
              <a:ext uri="{FF2B5EF4-FFF2-40B4-BE49-F238E27FC236}">
                <a16:creationId xmlns:a16="http://schemas.microsoft.com/office/drawing/2014/main" id="{E1A15C93-DBCB-4DFE-8E9C-A97E85B1B533}"/>
              </a:ext>
            </a:extLst>
          </p:cNvPr>
          <p:cNvSpPr>
            <a:spLocks xmlns:a="http://schemas.openxmlformats.org/drawingml/2006/main" noGrp="1"/>
          </p:cNvSpPr>
          <p:nvPr/>
        </p:nvSpPr>
        <p:spPr>
          <a:xfrm xmlns:a="http://schemas.openxmlformats.org/drawingml/2006/main">
            <a:off x="590550" y="5334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46C2E8"/>
                </a:solidFill>
                <a:latin typeface="Arial"/>
                <a:ea typeface="Arial"/>
                <a:cs typeface="Arial"/>
              </a:defRPr>
            </a:pPr>
            <a:r>
              <a:rPr sz="1200" b="1">
                <a:solidFill>
                  <a:srgbClr val="46C2E8"/>
                </a:solidFill>
                <a:latin typeface="Arial"/>
                <a:ea typeface="Arial"/>
                <a:cs typeface="Arial"/>
              </a:rPr>
              <a:t>MICROSOFT AI INNOVATORS</a:t>
            </a:r>
          </a:p>
        </p:txBody>
      </p:sp>
      <p:sp>
        <p:nvSpPr>
          <p:cNvPr id="3" name="">
            <a:extLst xmlns:a="http://schemas.openxmlformats.org/drawingml/2006/main">
              <a:ext uri="{FF2B5EF4-FFF2-40B4-BE49-F238E27FC236}">
                <a16:creationId xmlns:a16="http://schemas.microsoft.com/office/drawing/2014/main" id="{5BEE311D-933D-4A8C-BA08-A3D6352AB8A8}"/>
              </a:ext>
            </a:extLst>
          </p:cNvPr>
          <p:cNvSpPr>
            <a:spLocks xmlns:a="http://schemas.openxmlformats.org/drawingml/2006/main" noGrp="1"/>
          </p:cNvSpPr>
          <p:nvPr/>
        </p:nvSpPr>
        <p:spPr>
          <a:xfrm xmlns:a="http://schemas.openxmlformats.org/drawingml/2006/main">
            <a:off x="590550" y="1504950"/>
            <a:ext cx="7620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Building a Local</a:t>
            </a:r>
          </a:p>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RAG Assistant</a:t>
            </a:r>
          </a:p>
        </p:txBody>
      </p:sp>
      <p:sp>
        <p:nvSpPr>
          <p:cNvPr id="4" name="">
            <a:extLst xmlns:a="http://schemas.openxmlformats.org/drawingml/2006/main">
              <a:ext uri="{FF2B5EF4-FFF2-40B4-BE49-F238E27FC236}">
                <a16:creationId xmlns:a16="http://schemas.microsoft.com/office/drawing/2014/main" id="{8AF0B4AC-902A-4997-93D5-3A2848F9925F}"/>
              </a:ext>
            </a:extLst>
          </p:cNvPr>
          <p:cNvSpPr>
            <a:spLocks xmlns:a="http://schemas.openxmlformats.org/drawingml/2006/main" noGrp="1"/>
          </p:cNvSpPr>
          <p:nvPr/>
        </p:nvSpPr>
        <p:spPr>
          <a:xfrm xmlns:a="http://schemas.openxmlformats.org/drawingml/2006/main">
            <a:off x="590550" y="3638550"/>
            <a:ext cx="723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C8D2E8"/>
                </a:solidFill>
                <a:latin typeface="Arial"/>
                <a:ea typeface="Arial"/>
                <a:cs typeface="Arial"/>
              </a:defRPr>
            </a:pPr>
            <a:r>
              <a:rPr sz="1800" b="0">
                <a:solidFill>
                  <a:srgbClr val="C8D2E8"/>
                </a:solidFill>
                <a:latin typeface="Arial"/>
                <a:ea typeface="Arial"/>
                <a:cs typeface="Arial"/>
              </a:rPr>
              <a:t>What I built, tested, and learned with Microsoft Foundry Local</a:t>
            </a:r>
          </a:p>
        </p:txBody>
      </p:sp>
      <p:sp>
        <p:nvSpPr>
          <p:cNvPr id="5" name="">
            <a:extLst xmlns:a="http://schemas.openxmlformats.org/drawingml/2006/main">
              <a:ext uri="{FF2B5EF4-FFF2-40B4-BE49-F238E27FC236}">
                <a16:creationId xmlns:a16="http://schemas.microsoft.com/office/drawing/2014/main" id="{B8927A18-5073-471A-B23E-70431F2C8F7C}"/>
              </a:ext>
            </a:extLst>
          </p:cNvPr>
          <p:cNvSpPr>
            <a:spLocks xmlns:a="http://schemas.openxmlformats.org/drawingml/2006/main" noGrp="1"/>
          </p:cNvSpPr>
          <p:nvPr/>
        </p:nvSpPr>
        <p:spPr>
          <a:xfrm xmlns:a="http://schemas.openxmlformats.org/drawingml/2006/main">
            <a:off x="590550" y="54292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Bilgenur Pala</a:t>
            </a:r>
          </a:p>
        </p:txBody>
      </p:sp>
      <p:sp>
        <p:nvSpPr>
          <p:cNvPr id="6" name="">
            <a:extLst xmlns:a="http://schemas.openxmlformats.org/drawingml/2006/main">
              <a:ext uri="{FF2B5EF4-FFF2-40B4-BE49-F238E27FC236}">
                <a16:creationId xmlns:a16="http://schemas.microsoft.com/office/drawing/2014/main" id="{46868B0D-FCE0-469B-97AB-210F04B7A2C5}"/>
              </a:ext>
            </a:extLst>
          </p:cNvPr>
          <p:cNvSpPr>
            <a:spLocks xmlns:a="http://schemas.openxmlformats.org/drawingml/2006/main" noGrp="1"/>
          </p:cNvSpPr>
          <p:nvPr/>
        </p:nvSpPr>
        <p:spPr>
          <a:xfrm xmlns:a="http://schemas.openxmlformats.org/drawingml/2006/main">
            <a:off x="590550" y="58674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0">
                <a:solidFill>
                  <a:srgbClr val="9FB0D0"/>
                </a:solidFill>
                <a:latin typeface="Arial"/>
                <a:ea typeface="Arial"/>
                <a:cs typeface="Arial"/>
              </a:defRPr>
            </a:pPr>
            <a:r>
              <a:rPr sz="1275" b="0">
                <a:solidFill>
                  <a:srgbClr val="9FB0D0"/>
                </a:solidFill>
                <a:latin typeface="Arial"/>
                <a:ea typeface="Arial"/>
                <a:cs typeface="Arial"/>
              </a:rPr>
              <a:t>Python · SQLite · FastAPI · On-device AI</a:t>
            </a:r>
          </a:p>
        </p:txBody>
      </p:sp>
      <p:sp>
        <p:nvSpPr>
          <p:cNvPr id="7" name="">
            <a:extLst xmlns:a="http://schemas.openxmlformats.org/drawingml/2006/main">
              <a:ext uri="{FF2B5EF4-FFF2-40B4-BE49-F238E27FC236}">
                <a16:creationId xmlns:a16="http://schemas.microsoft.com/office/drawing/2014/main" id="{F41F1F74-9642-4613-ADFD-E638734BA370}"/>
              </a:ext>
            </a:extLst>
          </p:cNvPr>
          <p:cNvSpPr>
            <a:spLocks xmlns:a="http://schemas.openxmlformats.org/drawingml/2006/main" noGrp="1"/>
          </p:cNvSpPr>
          <p:nvPr/>
        </p:nvSpPr>
        <p:spPr>
          <a:xfrm xmlns:a="http://schemas.openxmlformats.org/drawingml/2006/main">
            <a:off x="9429750" y="2076450"/>
            <a:ext cx="2190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LOCAL</a:t>
            </a:r>
          </a:p>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PRIVATE</a:t>
            </a:r>
          </a:p>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GROUNDED</a:t>
            </a:r>
          </a:p>
        </p:txBody>
      </p:sp>
    </p:spTree>
    <p:extLst>
      <p:ext uri="{BB962C8B-B14F-4D97-AF65-F5344CB8AC3E}">
        <p14:creationId xmlns:p14="http://schemas.microsoft.com/office/powerpoint/2010/main" val="12945037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A1EF3A4-4607-4E5A-A1C3-0D80D2F9D794}"/>
              </a:ext>
            </a:extLst>
          </p:cNvPr>
          <p:cNvSpPr>
            <a:spLocks xmlns:a="http://schemas.openxmlformats.org/drawingml/2006/main" noGrp="1"/>
          </p:cNvSpPr>
          <p:nvPr/>
        </p:nvSpPr>
        <p:spPr>
          <a:xfrm xmlns:a="http://schemas.openxmlformats.org/drawingml/2006/main">
            <a:off x="5334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1">
                <a:solidFill>
                  <a:srgbClr val="3561DC"/>
                </a:solidFill>
                <a:latin typeface="Arial"/>
                <a:ea typeface="Arial"/>
                <a:cs typeface="Arial"/>
              </a:defRPr>
            </a:pPr>
            <a:r>
              <a:rPr sz="900" b="1">
                <a:solidFill>
                  <a:srgbClr val="3561DC"/>
                </a:solidFill>
                <a:latin typeface="Arial"/>
                <a:ea typeface="Arial"/>
                <a:cs typeface="Arial"/>
              </a:rPr>
              <a:t>ENGINEERING JOURNEY</a:t>
            </a:r>
          </a:p>
        </p:txBody>
      </p:sp>
      <p:sp>
        <p:nvSpPr>
          <p:cNvPr id="2" name="">
            <a:extLst xmlns:a="http://schemas.openxmlformats.org/drawingml/2006/main">
              <a:ext uri="{FF2B5EF4-FFF2-40B4-BE49-F238E27FC236}">
                <a16:creationId xmlns:a16="http://schemas.microsoft.com/office/drawing/2014/main" id="{F3895DB9-2E79-470E-83F4-761076107CE5}"/>
              </a:ext>
            </a:extLst>
          </p:cNvPr>
          <p:cNvSpPr>
            <a:spLocks xmlns:a="http://schemas.openxmlformats.org/drawingml/2006/main" noGrp="1"/>
          </p:cNvSpPr>
          <p:nvPr/>
        </p:nvSpPr>
        <p:spPr>
          <a:xfrm xmlns:a="http://schemas.openxmlformats.org/drawingml/2006/main">
            <a:off x="533400" y="5334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1827"/>
                </a:solidFill>
                <a:latin typeface="Arial"/>
                <a:ea typeface="Arial"/>
                <a:cs typeface="Arial"/>
              </a:defRPr>
            </a:pPr>
            <a:r>
              <a:rPr sz="2700" b="1">
                <a:solidFill>
                  <a:srgbClr val="101827"/>
                </a:solidFill>
                <a:latin typeface="Arial"/>
                <a:ea typeface="Arial"/>
                <a:cs typeface="Arial"/>
              </a:rPr>
              <a:t>I built the system in layers, not in one jump</a:t>
            </a:r>
          </a:p>
        </p:txBody>
      </p:sp>
      <p:sp>
        <p:nvSpPr>
          <p:cNvPr id="3" name="">
            <a:extLst xmlns:a="http://schemas.openxmlformats.org/drawingml/2006/main">
              <a:ext uri="{FF2B5EF4-FFF2-40B4-BE49-F238E27FC236}">
                <a16:creationId xmlns:a16="http://schemas.microsoft.com/office/drawing/2014/main" id="{499B3EA1-1485-4EFF-ABEB-F4E6389353EC}"/>
              </a:ext>
            </a:extLst>
          </p:cNvPr>
          <p:cNvSpPr>
            <a:spLocks xmlns:a="http://schemas.openxmlformats.org/drawingml/2006/main" noGrp="1"/>
          </p:cNvSpPr>
          <p:nvPr/>
        </p:nvSpPr>
        <p:spPr>
          <a:xfrm xmlns:a="http://schemas.openxmlformats.org/drawingml/2006/main">
            <a:off x="11258550" y="3429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E687B"/>
                </a:solidFill>
                <a:latin typeface="Arial"/>
                <a:ea typeface="Arial"/>
                <a:cs typeface="Arial"/>
              </a:defRPr>
            </a:pPr>
            <a:r>
              <a:rPr sz="900" b="0">
                <a:solidFill>
                  <a:srgbClr val="5E687B"/>
                </a:solidFill>
                <a:latin typeface="Arial"/>
                <a:ea typeface="Arial"/>
                <a:cs typeface="Arial"/>
              </a:rPr>
              <a:t>02</a:t>
            </a:r>
          </a:p>
        </p:txBody>
      </p:sp>
      <p:cxnSp>
        <p:nvCxnSpPr>
          <p:cNvPr id="34"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C9D0DC"/>
            </a:solidFill>
            <a:prstDash val="solid"/>
          </a:ln>
        </p:spPr>
      </p:cxnSp>
      <p:cxnSp>
        <p:nvCxnSpPr>
          <p:cNvPr id="35" name=""/>
          <p:cNvCxnSpPr/>
          <p:nvPr/>
        </p:nvCxnSpPr>
        <p:spPr>
          <a:xfrm xmlns:a="http://schemas.openxmlformats.org/drawingml/2006/main">
            <a:off x="2362200" y="3162300"/>
            <a:ext cx="476250" cy="0"/>
          </a:xfrm>
          <a:prstGeom xmlns:a="http://schemas.openxmlformats.org/drawingml/2006/main" prst="straightConnector1">
            <a:avLst/>
          </a:prstGeom>
          <a:ln xmlns:a="http://schemas.openxmlformats.org/drawingml/2006/main" w="28575">
            <a:solidFill>
              <a:srgbClr val="6D8DF7"/>
            </a:solidFill>
            <a:prstDash val="solid"/>
          </a:ln>
        </p:spPr>
      </p:cxnSp>
      <p:cxnSp>
        <p:nvCxnSpPr>
          <p:cNvPr id="36" name=""/>
          <p:cNvCxnSpPr/>
          <p:nvPr/>
        </p:nvCxnSpPr>
        <p:spPr>
          <a:xfrm xmlns:a="http://schemas.openxmlformats.org/drawingml/2006/main">
            <a:off x="4648200" y="3162300"/>
            <a:ext cx="476250" cy="0"/>
          </a:xfrm>
          <a:prstGeom xmlns:a="http://schemas.openxmlformats.org/drawingml/2006/main" prst="straightConnector1">
            <a:avLst/>
          </a:prstGeom>
          <a:ln xmlns:a="http://schemas.openxmlformats.org/drawingml/2006/main" w="28575">
            <a:solidFill>
              <a:srgbClr val="6D8DF7"/>
            </a:solidFill>
            <a:prstDash val="solid"/>
          </a:ln>
        </p:spPr>
      </p:cxnSp>
      <p:cxnSp>
        <p:nvCxnSpPr>
          <p:cNvPr id="37" name=""/>
          <p:cNvCxnSpPr/>
          <p:nvPr/>
        </p:nvCxnSpPr>
        <p:spPr>
          <a:xfrm xmlns:a="http://schemas.openxmlformats.org/drawingml/2006/main">
            <a:off x="6934200" y="3162300"/>
            <a:ext cx="476250" cy="0"/>
          </a:xfrm>
          <a:prstGeom xmlns:a="http://schemas.openxmlformats.org/drawingml/2006/main" prst="straightConnector1">
            <a:avLst/>
          </a:prstGeom>
          <a:ln xmlns:a="http://schemas.openxmlformats.org/drawingml/2006/main" w="28575">
            <a:solidFill>
              <a:srgbClr val="6D8DF7"/>
            </a:solidFill>
            <a:prstDash val="solid"/>
          </a:ln>
        </p:spPr>
      </p:cxnSp>
      <p:cxnSp>
        <p:nvCxnSpPr>
          <p:cNvPr id="38" name=""/>
          <p:cNvCxnSpPr/>
          <p:nvPr/>
        </p:nvCxnSpPr>
        <p:spPr>
          <a:xfrm xmlns:a="http://schemas.openxmlformats.org/drawingml/2006/main">
            <a:off x="9220200" y="3162300"/>
            <a:ext cx="476250" cy="0"/>
          </a:xfrm>
          <a:prstGeom xmlns:a="http://schemas.openxmlformats.org/drawingml/2006/main" prst="straightConnector1">
            <a:avLst/>
          </a:prstGeom>
          <a:ln xmlns:a="http://schemas.openxmlformats.org/drawingml/2006/main" w="28575">
            <a:solidFill>
              <a:srgbClr val="6D8DF7"/>
            </a:solidFill>
            <a:prstDash val="solid"/>
          </a:ln>
        </p:spPr>
      </p:cxnSp>
      <p:sp>
        <p:nvSpPr>
          <p:cNvPr id="9" name="">
            <a:extLst xmlns:a="http://schemas.openxmlformats.org/drawingml/2006/main">
              <a:ext uri="{FF2B5EF4-FFF2-40B4-BE49-F238E27FC236}">
                <a16:creationId xmlns:a16="http://schemas.microsoft.com/office/drawing/2014/main" id="{011DD905-80F3-4952-8506-6588BE9B5627}"/>
              </a:ext>
            </a:extLst>
          </p:cNvPr>
          <p:cNvSpPr>
            <a:spLocks xmlns:a="http://schemas.openxmlformats.org/drawingml/2006/main" noGrp="1"/>
          </p:cNvSpPr>
          <p:nvPr/>
        </p:nvSpPr>
        <p:spPr>
          <a:xfrm xmlns:a="http://schemas.openxmlformats.org/drawingml/2006/main">
            <a:off x="552450" y="2095500"/>
            <a:ext cx="1809750" cy="2381250"/>
          </a:xfrm>
          <a:prstGeom xmlns:a="http://schemas.openxmlformats.org/drawingml/2006/main" prst="roundRect">
            <a:avLst>
              <a:gd name="adj" fmla="val 6316"/>
            </a:avLst>
          </a:prstGeom>
          <a:solidFill xmlns:a="http://schemas.openxmlformats.org/drawingml/2006/main">
            <a:srgbClr val="E6ECFF"/>
          </a:solidFill>
          <a:ln xmlns:a="http://schemas.openxmlformats.org/drawingml/2006/main" w="9525">
            <a:solidFill>
              <a:srgbClr val="C9D0DC"/>
            </a:solidFill>
            <a:prstDash val="solid"/>
          </a:ln>
        </p:spPr>
      </p:sp>
      <p:sp>
        <p:nvSpPr>
          <p:cNvPr id="10" name="">
            <a:extLst xmlns:a="http://schemas.openxmlformats.org/drawingml/2006/main">
              <a:ext uri="{FF2B5EF4-FFF2-40B4-BE49-F238E27FC236}">
                <a16:creationId xmlns:a16="http://schemas.microsoft.com/office/drawing/2014/main" id="{2ADFF492-12C7-4B8B-A64B-134106F7A8A9}"/>
              </a:ext>
            </a:extLst>
          </p:cNvPr>
          <p:cNvSpPr>
            <a:spLocks xmlns:a="http://schemas.openxmlformats.org/drawingml/2006/main" noGrp="1"/>
          </p:cNvSpPr>
          <p:nvPr/>
        </p:nvSpPr>
        <p:spPr>
          <a:xfrm xmlns:a="http://schemas.openxmlformats.org/drawingml/2006/main">
            <a:off x="742950" y="2305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#5–9</a:t>
            </a:r>
          </a:p>
        </p:txBody>
      </p:sp>
      <p:sp>
        <p:nvSpPr>
          <p:cNvPr id="11" name="">
            <a:extLst xmlns:a="http://schemas.openxmlformats.org/drawingml/2006/main">
              <a:ext uri="{FF2B5EF4-FFF2-40B4-BE49-F238E27FC236}">
                <a16:creationId xmlns:a16="http://schemas.microsoft.com/office/drawing/2014/main" id="{65169FB4-CF30-4D3F-866A-7E55A61D3A50}"/>
              </a:ext>
            </a:extLst>
          </p:cNvPr>
          <p:cNvSpPr>
            <a:spLocks xmlns:a="http://schemas.openxmlformats.org/drawingml/2006/main" noGrp="1"/>
          </p:cNvSpPr>
          <p:nvPr/>
        </p:nvSpPr>
        <p:spPr>
          <a:xfrm xmlns:a="http://schemas.openxmlformats.org/drawingml/2006/main">
            <a:off x="742950" y="27432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1827"/>
                </a:solidFill>
                <a:latin typeface="Arial"/>
                <a:ea typeface="Arial"/>
                <a:cs typeface="Arial"/>
              </a:defRPr>
            </a:pPr>
            <a:r>
              <a:rPr sz="1800" b="1">
                <a:solidFill>
                  <a:srgbClr val="101827"/>
                </a:solidFill>
                <a:latin typeface="Arial"/>
                <a:ea typeface="Arial"/>
                <a:cs typeface="Arial"/>
              </a:rPr>
              <a:t>Prove</a:t>
            </a:r>
          </a:p>
        </p:txBody>
      </p:sp>
      <p:sp>
        <p:nvSpPr>
          <p:cNvPr id="12" name="">
            <a:extLst xmlns:a="http://schemas.openxmlformats.org/drawingml/2006/main">
              <a:ext uri="{FF2B5EF4-FFF2-40B4-BE49-F238E27FC236}">
                <a16:creationId xmlns:a16="http://schemas.microsoft.com/office/drawing/2014/main" id="{81B179E6-975C-4F4D-9BBE-E8D038FE435C}"/>
              </a:ext>
            </a:extLst>
          </p:cNvPr>
          <p:cNvSpPr>
            <a:spLocks xmlns:a="http://schemas.openxmlformats.org/drawingml/2006/main" noGrp="1"/>
          </p:cNvSpPr>
          <p:nvPr/>
        </p:nvSpPr>
        <p:spPr>
          <a:xfrm xmlns:a="http://schemas.openxmlformats.org/drawingml/2006/main">
            <a:off x="742950" y="3352800"/>
            <a:ext cx="142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Architecture</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SDK exploration</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Embeddings</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SQLite</a:t>
            </a:r>
          </a:p>
        </p:txBody>
      </p:sp>
      <p:sp>
        <p:nvSpPr>
          <p:cNvPr id="13" name="">
            <a:extLst xmlns:a="http://schemas.openxmlformats.org/drawingml/2006/main">
              <a:ext uri="{FF2B5EF4-FFF2-40B4-BE49-F238E27FC236}">
                <a16:creationId xmlns:a16="http://schemas.microsoft.com/office/drawing/2014/main" id="{EBB30BB5-9E41-4141-9D40-0C730D93D6DB}"/>
              </a:ext>
            </a:extLst>
          </p:cNvPr>
          <p:cNvSpPr>
            <a:spLocks xmlns:a="http://schemas.openxmlformats.org/drawingml/2006/main" noGrp="1"/>
          </p:cNvSpPr>
          <p:nvPr/>
        </p:nvSpPr>
        <p:spPr>
          <a:xfrm xmlns:a="http://schemas.openxmlformats.org/drawingml/2006/main">
            <a:off x="2838450" y="2095500"/>
            <a:ext cx="1809750" cy="2381250"/>
          </a:xfrm>
          <a:prstGeom xmlns:a="http://schemas.openxmlformats.org/drawingml/2006/main" prst="roundRect">
            <a:avLst>
              <a:gd name="adj" fmla="val 6316"/>
            </a:avLst>
          </a:prstGeom>
          <a:solidFill xmlns:a="http://schemas.openxmlformats.org/drawingml/2006/main">
            <a:srgbClr val="F3F5F8"/>
          </a:solidFill>
          <a:ln xmlns:a="http://schemas.openxmlformats.org/drawingml/2006/main" w="9525">
            <a:solidFill>
              <a:srgbClr val="C9D0DC"/>
            </a:solidFill>
            <a:prstDash val="solid"/>
          </a:ln>
        </p:spPr>
      </p:sp>
      <p:sp>
        <p:nvSpPr>
          <p:cNvPr id="14" name="">
            <a:extLst xmlns:a="http://schemas.openxmlformats.org/drawingml/2006/main">
              <a:ext uri="{FF2B5EF4-FFF2-40B4-BE49-F238E27FC236}">
                <a16:creationId xmlns:a16="http://schemas.microsoft.com/office/drawing/2014/main" id="{82AF6026-4625-4B3E-8EC0-D4A92E9AEFA6}"/>
              </a:ext>
            </a:extLst>
          </p:cNvPr>
          <p:cNvSpPr>
            <a:spLocks xmlns:a="http://schemas.openxmlformats.org/drawingml/2006/main" noGrp="1"/>
          </p:cNvSpPr>
          <p:nvPr/>
        </p:nvSpPr>
        <p:spPr>
          <a:xfrm xmlns:a="http://schemas.openxmlformats.org/drawingml/2006/main">
            <a:off x="3028950" y="2305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#10–13</a:t>
            </a:r>
          </a:p>
        </p:txBody>
      </p:sp>
      <p:sp>
        <p:nvSpPr>
          <p:cNvPr id="15" name="">
            <a:extLst xmlns:a="http://schemas.openxmlformats.org/drawingml/2006/main">
              <a:ext uri="{FF2B5EF4-FFF2-40B4-BE49-F238E27FC236}">
                <a16:creationId xmlns:a16="http://schemas.microsoft.com/office/drawing/2014/main" id="{06D39ED0-5226-4DB7-9899-D0893737FEFE}"/>
              </a:ext>
            </a:extLst>
          </p:cNvPr>
          <p:cNvSpPr>
            <a:spLocks xmlns:a="http://schemas.openxmlformats.org/drawingml/2006/main" noGrp="1"/>
          </p:cNvSpPr>
          <p:nvPr/>
        </p:nvSpPr>
        <p:spPr>
          <a:xfrm xmlns:a="http://schemas.openxmlformats.org/drawingml/2006/main">
            <a:off x="3028950" y="27432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1827"/>
                </a:solidFill>
                <a:latin typeface="Arial"/>
                <a:ea typeface="Arial"/>
                <a:cs typeface="Arial"/>
              </a:defRPr>
            </a:pPr>
            <a:r>
              <a:rPr sz="1800" b="1">
                <a:solidFill>
                  <a:srgbClr val="101827"/>
                </a:solidFill>
                <a:latin typeface="Arial"/>
                <a:ea typeface="Arial"/>
                <a:cs typeface="Arial"/>
              </a:rPr>
              <a:t>Retrieve</a:t>
            </a:r>
          </a:p>
        </p:txBody>
      </p:sp>
      <p:sp>
        <p:nvSpPr>
          <p:cNvPr id="16" name="">
            <a:extLst xmlns:a="http://schemas.openxmlformats.org/drawingml/2006/main">
              <a:ext uri="{FF2B5EF4-FFF2-40B4-BE49-F238E27FC236}">
                <a16:creationId xmlns:a16="http://schemas.microsoft.com/office/drawing/2014/main" id="{990FA335-AFCD-4346-8DB3-B06126BC8D73}"/>
              </a:ext>
            </a:extLst>
          </p:cNvPr>
          <p:cNvSpPr>
            <a:spLocks xmlns:a="http://schemas.openxmlformats.org/drawingml/2006/main" noGrp="1"/>
          </p:cNvSpPr>
          <p:nvPr/>
        </p:nvSpPr>
        <p:spPr>
          <a:xfrm xmlns:a="http://schemas.openxmlformats.org/drawingml/2006/main">
            <a:off x="3028950" y="3352800"/>
            <a:ext cx="142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634"/>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Chunk-friendly docs</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Idempotent ingest</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Top-K search</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Unit tests</a:t>
            </a:r>
          </a:p>
        </p:txBody>
      </p:sp>
      <p:sp>
        <p:nvSpPr>
          <p:cNvPr id="17" name="">
            <a:extLst xmlns:a="http://schemas.openxmlformats.org/drawingml/2006/main">
              <a:ext uri="{FF2B5EF4-FFF2-40B4-BE49-F238E27FC236}">
                <a16:creationId xmlns:a16="http://schemas.microsoft.com/office/drawing/2014/main" id="{B76CC199-B684-4D6D-A7B9-A3DA36160CB1}"/>
              </a:ext>
            </a:extLst>
          </p:cNvPr>
          <p:cNvSpPr>
            <a:spLocks xmlns:a="http://schemas.openxmlformats.org/drawingml/2006/main" noGrp="1"/>
          </p:cNvSpPr>
          <p:nvPr/>
        </p:nvSpPr>
        <p:spPr>
          <a:xfrm xmlns:a="http://schemas.openxmlformats.org/drawingml/2006/main">
            <a:off x="5124450" y="2095500"/>
            <a:ext cx="1809750" cy="2381250"/>
          </a:xfrm>
          <a:prstGeom xmlns:a="http://schemas.openxmlformats.org/drawingml/2006/main" prst="roundRect">
            <a:avLst>
              <a:gd name="adj" fmla="val 6316"/>
            </a:avLst>
          </a:prstGeom>
          <a:solidFill xmlns:a="http://schemas.openxmlformats.org/drawingml/2006/main">
            <a:srgbClr val="DFF5EA"/>
          </a:solidFill>
          <a:ln xmlns:a="http://schemas.openxmlformats.org/drawingml/2006/main" w="9525">
            <a:solidFill>
              <a:srgbClr val="C9D0DC"/>
            </a:solidFill>
            <a:prstDash val="solid"/>
          </a:ln>
        </p:spPr>
      </p:sp>
      <p:sp>
        <p:nvSpPr>
          <p:cNvPr id="18" name="">
            <a:extLst xmlns:a="http://schemas.openxmlformats.org/drawingml/2006/main">
              <a:ext uri="{FF2B5EF4-FFF2-40B4-BE49-F238E27FC236}">
                <a16:creationId xmlns:a16="http://schemas.microsoft.com/office/drawing/2014/main" id="{DCAE7917-27D4-474E-9356-AA6D564E56F0}"/>
              </a:ext>
            </a:extLst>
          </p:cNvPr>
          <p:cNvSpPr>
            <a:spLocks xmlns:a="http://schemas.openxmlformats.org/drawingml/2006/main" noGrp="1"/>
          </p:cNvSpPr>
          <p:nvPr/>
        </p:nvSpPr>
        <p:spPr>
          <a:xfrm xmlns:a="http://schemas.openxmlformats.org/drawingml/2006/main">
            <a:off x="5314950" y="2305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#14–16</a:t>
            </a:r>
          </a:p>
        </p:txBody>
      </p:sp>
      <p:sp>
        <p:nvSpPr>
          <p:cNvPr id="19" name="">
            <a:extLst xmlns:a="http://schemas.openxmlformats.org/drawingml/2006/main">
              <a:ext uri="{FF2B5EF4-FFF2-40B4-BE49-F238E27FC236}">
                <a16:creationId xmlns:a16="http://schemas.microsoft.com/office/drawing/2014/main" id="{0CC93337-9EFD-4DBD-9F72-F87C0B01B75E}"/>
              </a:ext>
            </a:extLst>
          </p:cNvPr>
          <p:cNvSpPr>
            <a:spLocks xmlns:a="http://schemas.openxmlformats.org/drawingml/2006/main" noGrp="1"/>
          </p:cNvSpPr>
          <p:nvPr/>
        </p:nvSpPr>
        <p:spPr>
          <a:xfrm xmlns:a="http://schemas.openxmlformats.org/drawingml/2006/main">
            <a:off x="5314950" y="27432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1827"/>
                </a:solidFill>
                <a:latin typeface="Arial"/>
                <a:ea typeface="Arial"/>
                <a:cs typeface="Arial"/>
              </a:defRPr>
            </a:pPr>
            <a:r>
              <a:rPr sz="1800" b="1">
                <a:solidFill>
                  <a:srgbClr val="101827"/>
                </a:solidFill>
                <a:latin typeface="Arial"/>
                <a:ea typeface="Arial"/>
                <a:cs typeface="Arial"/>
              </a:rPr>
              <a:t>Ground</a:t>
            </a:r>
          </a:p>
        </p:txBody>
      </p:sp>
      <p:sp>
        <p:nvSpPr>
          <p:cNvPr id="20" name="">
            <a:extLst xmlns:a="http://schemas.openxmlformats.org/drawingml/2006/main">
              <a:ext uri="{FF2B5EF4-FFF2-40B4-BE49-F238E27FC236}">
                <a16:creationId xmlns:a16="http://schemas.microsoft.com/office/drawing/2014/main" id="{8E0265E8-8B9A-444C-9D46-59A1CEC652C1}"/>
              </a:ext>
            </a:extLst>
          </p:cNvPr>
          <p:cNvSpPr>
            <a:spLocks xmlns:a="http://schemas.openxmlformats.org/drawingml/2006/main" noGrp="1"/>
          </p:cNvSpPr>
          <p:nvPr/>
        </p:nvSpPr>
        <p:spPr>
          <a:xfrm xmlns:a="http://schemas.openxmlformats.org/drawingml/2006/main">
            <a:off x="5314950" y="3352800"/>
            <a:ext cx="142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634"/>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Context packing</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Fallback layers</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Measured threshold</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Reusable CLI</a:t>
            </a:r>
          </a:p>
        </p:txBody>
      </p:sp>
      <p:sp>
        <p:nvSpPr>
          <p:cNvPr id="21" name="">
            <a:extLst xmlns:a="http://schemas.openxmlformats.org/drawingml/2006/main">
              <a:ext uri="{FF2B5EF4-FFF2-40B4-BE49-F238E27FC236}">
                <a16:creationId xmlns:a16="http://schemas.microsoft.com/office/drawing/2014/main" id="{9A922C95-0795-4168-8BB9-DE373BE42C3B}"/>
              </a:ext>
            </a:extLst>
          </p:cNvPr>
          <p:cNvSpPr>
            <a:spLocks xmlns:a="http://schemas.openxmlformats.org/drawingml/2006/main" noGrp="1"/>
          </p:cNvSpPr>
          <p:nvPr/>
        </p:nvSpPr>
        <p:spPr>
          <a:xfrm xmlns:a="http://schemas.openxmlformats.org/drawingml/2006/main">
            <a:off x="7410450" y="2095500"/>
            <a:ext cx="1809750" cy="2381250"/>
          </a:xfrm>
          <a:prstGeom xmlns:a="http://schemas.openxmlformats.org/drawingml/2006/main" prst="roundRect">
            <a:avLst>
              <a:gd name="adj" fmla="val 6316"/>
            </a:avLst>
          </a:prstGeom>
          <a:solidFill xmlns:a="http://schemas.openxmlformats.org/drawingml/2006/main">
            <a:srgbClr val="FFF2D4"/>
          </a:solidFill>
          <a:ln xmlns:a="http://schemas.openxmlformats.org/drawingml/2006/main" w="9525">
            <a:solidFill>
              <a:srgbClr val="C9D0DC"/>
            </a:solidFill>
            <a:prstDash val="solid"/>
          </a:ln>
        </p:spPr>
      </p:sp>
      <p:sp>
        <p:nvSpPr>
          <p:cNvPr id="22" name="">
            <a:extLst xmlns:a="http://schemas.openxmlformats.org/drawingml/2006/main">
              <a:ext uri="{FF2B5EF4-FFF2-40B4-BE49-F238E27FC236}">
                <a16:creationId xmlns:a16="http://schemas.microsoft.com/office/drawing/2014/main" id="{4AE2E50F-A061-45E3-B5B5-F8732717DC05}"/>
              </a:ext>
            </a:extLst>
          </p:cNvPr>
          <p:cNvSpPr>
            <a:spLocks xmlns:a="http://schemas.openxmlformats.org/drawingml/2006/main" noGrp="1"/>
          </p:cNvSpPr>
          <p:nvPr/>
        </p:nvSpPr>
        <p:spPr>
          <a:xfrm xmlns:a="http://schemas.openxmlformats.org/drawingml/2006/main">
            <a:off x="7600950" y="2305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#17–19</a:t>
            </a:r>
          </a:p>
        </p:txBody>
      </p:sp>
      <p:sp>
        <p:nvSpPr>
          <p:cNvPr id="23" name="">
            <a:extLst xmlns:a="http://schemas.openxmlformats.org/drawingml/2006/main">
              <a:ext uri="{FF2B5EF4-FFF2-40B4-BE49-F238E27FC236}">
                <a16:creationId xmlns:a16="http://schemas.microsoft.com/office/drawing/2014/main" id="{89E224C0-4D21-4077-A5C4-8E33EEF7B5C2}"/>
              </a:ext>
            </a:extLst>
          </p:cNvPr>
          <p:cNvSpPr>
            <a:spLocks xmlns:a="http://schemas.openxmlformats.org/drawingml/2006/main" noGrp="1"/>
          </p:cNvSpPr>
          <p:nvPr/>
        </p:nvSpPr>
        <p:spPr>
          <a:xfrm xmlns:a="http://schemas.openxmlformats.org/drawingml/2006/main">
            <a:off x="7600950" y="27432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1827"/>
                </a:solidFill>
                <a:latin typeface="Arial"/>
                <a:ea typeface="Arial"/>
                <a:cs typeface="Arial"/>
              </a:defRPr>
            </a:pPr>
            <a:r>
              <a:rPr sz="1800" b="1">
                <a:solidFill>
                  <a:srgbClr val="101827"/>
                </a:solidFill>
                <a:latin typeface="Arial"/>
                <a:ea typeface="Arial"/>
                <a:cs typeface="Arial"/>
              </a:rPr>
              <a:t>Validate</a:t>
            </a:r>
          </a:p>
        </p:txBody>
      </p:sp>
      <p:sp>
        <p:nvSpPr>
          <p:cNvPr id="24" name="">
            <a:extLst xmlns:a="http://schemas.openxmlformats.org/drawingml/2006/main">
              <a:ext uri="{FF2B5EF4-FFF2-40B4-BE49-F238E27FC236}">
                <a16:creationId xmlns:a16="http://schemas.microsoft.com/office/drawing/2014/main" id="{1A00B4AD-E846-4FE3-9D3B-ED0538462F70}"/>
              </a:ext>
            </a:extLst>
          </p:cNvPr>
          <p:cNvSpPr>
            <a:spLocks xmlns:a="http://schemas.openxmlformats.org/drawingml/2006/main" noGrp="1"/>
          </p:cNvSpPr>
          <p:nvPr/>
        </p:nvSpPr>
        <p:spPr>
          <a:xfrm xmlns:a="http://schemas.openxmlformats.org/drawingml/2006/main">
            <a:off x="7600950" y="3352800"/>
            <a:ext cx="142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Model comparison</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Failure analysis</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Blind evaluation</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Technical delivery</a:t>
            </a:r>
          </a:p>
        </p:txBody>
      </p:sp>
      <p:sp>
        <p:nvSpPr>
          <p:cNvPr id="25" name="">
            <a:extLst xmlns:a="http://schemas.openxmlformats.org/drawingml/2006/main">
              <a:ext uri="{FF2B5EF4-FFF2-40B4-BE49-F238E27FC236}">
                <a16:creationId xmlns:a16="http://schemas.microsoft.com/office/drawing/2014/main" id="{807B82B5-B237-4B1F-8B96-1B40A1D6EE68}"/>
              </a:ext>
            </a:extLst>
          </p:cNvPr>
          <p:cNvSpPr>
            <a:spLocks xmlns:a="http://schemas.openxmlformats.org/drawingml/2006/main" noGrp="1"/>
          </p:cNvSpPr>
          <p:nvPr/>
        </p:nvSpPr>
        <p:spPr>
          <a:xfrm xmlns:a="http://schemas.openxmlformats.org/drawingml/2006/main">
            <a:off x="9696450" y="2095500"/>
            <a:ext cx="1809750" cy="2381250"/>
          </a:xfrm>
          <a:prstGeom xmlns:a="http://schemas.openxmlformats.org/drawingml/2006/main" prst="roundRect">
            <a:avLst>
              <a:gd name="adj" fmla="val 6316"/>
            </a:avLst>
          </a:prstGeom>
          <a:solidFill xmlns:a="http://schemas.openxmlformats.org/drawingml/2006/main">
            <a:srgbClr val="E6ECFF"/>
          </a:solidFill>
          <a:ln xmlns:a="http://schemas.openxmlformats.org/drawingml/2006/main" w="9525">
            <a:solidFill>
              <a:srgbClr val="C9D0DC"/>
            </a:solidFill>
            <a:prstDash val="solid"/>
          </a:ln>
        </p:spPr>
      </p:sp>
      <p:sp>
        <p:nvSpPr>
          <p:cNvPr id="26" name="">
            <a:extLst xmlns:a="http://schemas.openxmlformats.org/drawingml/2006/main">
              <a:ext uri="{FF2B5EF4-FFF2-40B4-BE49-F238E27FC236}">
                <a16:creationId xmlns:a16="http://schemas.microsoft.com/office/drawing/2014/main" id="{4EC06CBC-446C-4DA4-AC42-ACA56EEA91F7}"/>
              </a:ext>
            </a:extLst>
          </p:cNvPr>
          <p:cNvSpPr>
            <a:spLocks xmlns:a="http://schemas.openxmlformats.org/drawingml/2006/main" noGrp="1"/>
          </p:cNvSpPr>
          <p:nvPr/>
        </p:nvSpPr>
        <p:spPr>
          <a:xfrm xmlns:a="http://schemas.openxmlformats.org/drawingml/2006/main">
            <a:off x="9886950" y="2305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#20 / #37</a:t>
            </a:r>
          </a:p>
        </p:txBody>
      </p:sp>
      <p:sp>
        <p:nvSpPr>
          <p:cNvPr id="27" name="">
            <a:extLst xmlns:a="http://schemas.openxmlformats.org/drawingml/2006/main">
              <a:ext uri="{FF2B5EF4-FFF2-40B4-BE49-F238E27FC236}">
                <a16:creationId xmlns:a16="http://schemas.microsoft.com/office/drawing/2014/main" id="{FB587E86-F5C0-46C6-B8CB-50668C1E0B17}"/>
              </a:ext>
            </a:extLst>
          </p:cNvPr>
          <p:cNvSpPr>
            <a:spLocks xmlns:a="http://schemas.openxmlformats.org/drawingml/2006/main" noGrp="1"/>
          </p:cNvSpPr>
          <p:nvPr/>
        </p:nvSpPr>
        <p:spPr>
          <a:xfrm xmlns:a="http://schemas.openxmlformats.org/drawingml/2006/main">
            <a:off x="9886950" y="27432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1827"/>
                </a:solidFill>
                <a:latin typeface="Arial"/>
                <a:ea typeface="Arial"/>
                <a:cs typeface="Arial"/>
              </a:defRPr>
            </a:pPr>
            <a:r>
              <a:rPr sz="1800" b="1">
                <a:solidFill>
                  <a:srgbClr val="101827"/>
                </a:solidFill>
                <a:latin typeface="Arial"/>
                <a:ea typeface="Arial"/>
                <a:cs typeface="Arial"/>
              </a:rPr>
              <a:t>Explain</a:t>
            </a:r>
          </a:p>
        </p:txBody>
      </p:sp>
      <p:sp>
        <p:nvSpPr>
          <p:cNvPr id="28" name="">
            <a:extLst xmlns:a="http://schemas.openxmlformats.org/drawingml/2006/main">
              <a:ext uri="{FF2B5EF4-FFF2-40B4-BE49-F238E27FC236}">
                <a16:creationId xmlns:a16="http://schemas.microsoft.com/office/drawing/2014/main" id="{B65704F4-C1D7-4B14-A378-F20C2C416E73}"/>
              </a:ext>
            </a:extLst>
          </p:cNvPr>
          <p:cNvSpPr>
            <a:spLocks xmlns:a="http://schemas.openxmlformats.org/drawingml/2006/main" noGrp="1"/>
          </p:cNvSpPr>
          <p:nvPr/>
        </p:nvSpPr>
        <p:spPr>
          <a:xfrm xmlns:a="http://schemas.openxmlformats.org/drawingml/2006/main">
            <a:off x="9886950" y="3352800"/>
            <a:ext cx="142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Public preview</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FastAPI backend</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Responsive UI</a:t>
            </a:r>
          </a:p>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Learning story</a:t>
            </a:r>
          </a:p>
        </p:txBody>
      </p:sp>
      <p:sp>
        <p:nvSpPr>
          <p:cNvPr id="29" name="">
            <a:extLst xmlns:a="http://schemas.openxmlformats.org/drawingml/2006/main">
              <a:ext uri="{FF2B5EF4-FFF2-40B4-BE49-F238E27FC236}">
                <a16:creationId xmlns:a16="http://schemas.microsoft.com/office/drawing/2014/main" id="{975D74B3-0A61-4826-8C4D-B198591B089B}"/>
              </a:ext>
            </a:extLst>
          </p:cNvPr>
          <p:cNvSpPr>
            <a:spLocks xmlns:a="http://schemas.openxmlformats.org/drawingml/2006/main" noGrp="1"/>
          </p:cNvSpPr>
          <p:nvPr/>
        </p:nvSpPr>
        <p:spPr>
          <a:xfrm xmlns:a="http://schemas.openxmlformats.org/drawingml/2006/main">
            <a:off x="1314450" y="5143500"/>
            <a:ext cx="9563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81"/>
          </a:bodyPr>
          <a:lstStyle xmlns:a="http://schemas.openxmlformats.org/drawingml/2006/main"/>
          <a:p xmlns:a="http://schemas.openxmlformats.org/drawingml/2006/main">
            <a:pPr algn="ctr">
              <a:defRPr sz="1800" b="1">
                <a:solidFill>
                  <a:srgbClr val="3561DC"/>
                </a:solidFill>
                <a:latin typeface="Arial"/>
                <a:ea typeface="Arial"/>
                <a:cs typeface="Arial"/>
              </a:defRPr>
            </a:pPr>
            <a:r>
              <a:rPr sz="1800" b="1">
                <a:solidFill>
                  <a:srgbClr val="3561DC"/>
                </a:solidFill>
                <a:latin typeface="Arial"/>
                <a:ea typeface="Arial"/>
                <a:cs typeface="Arial"/>
              </a:rPr>
              <a:t>The final product is the result of repeated build → measure → diagnose → improve cycles.</a:t>
            </a:r>
          </a:p>
        </p:txBody>
      </p:sp>
      <p:sp>
        <p:nvSpPr>
          <p:cNvPr id="30" name="">
            <a:extLst xmlns:a="http://schemas.openxmlformats.org/drawingml/2006/main">
              <a:ext uri="{FF2B5EF4-FFF2-40B4-BE49-F238E27FC236}">
                <a16:creationId xmlns:a16="http://schemas.microsoft.com/office/drawing/2014/main" id="{1E730484-2323-4248-8AF4-EBEA6C38E604}"/>
              </a:ext>
            </a:extLst>
          </p:cNvPr>
          <p:cNvSpPr>
            <a:spLocks xmlns:a="http://schemas.openxmlformats.org/drawingml/2006/main" noGrp="1"/>
          </p:cNvSpPr>
          <p:nvPr/>
        </p:nvSpPr>
        <p:spPr>
          <a:xfrm xmlns:a="http://schemas.openxmlformats.org/drawingml/2006/main">
            <a:off x="533400" y="64960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defRPr sz="675" b="0">
                <a:solidFill>
                  <a:srgbClr val="5E687B"/>
                </a:solidFill>
                <a:latin typeface="Arial"/>
                <a:ea typeface="Arial"/>
                <a:cs typeface="Arial"/>
              </a:defRPr>
            </a:pPr>
            <a:r>
              <a:rPr sz="675" b="0">
                <a:solidFill>
                  <a:srgbClr val="5E687B"/>
                </a:solidFill>
                <a:latin typeface="Arial"/>
                <a:ea typeface="Arial"/>
                <a:cs typeface="Arial"/>
              </a:rPr>
              <a:t>Source: docs/engineering-journal.md</a:t>
            </a:r>
          </a:p>
        </p:txBody>
      </p:sp>
    </p:spTree>
    <p:extLst>
      <p:ext uri="{BB962C8B-B14F-4D97-AF65-F5344CB8AC3E}">
        <p14:creationId xmlns:p14="http://schemas.microsoft.com/office/powerpoint/2010/main" val="14878931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1203F70-664D-45A1-83AB-9AB4ED28987D}"/>
              </a:ext>
            </a:extLst>
          </p:cNvPr>
          <p:cNvSpPr>
            <a:spLocks xmlns:a="http://schemas.openxmlformats.org/drawingml/2006/main" noGrp="1"/>
          </p:cNvSpPr>
          <p:nvPr/>
        </p:nvSpPr>
        <p:spPr>
          <a:xfrm xmlns:a="http://schemas.openxmlformats.org/drawingml/2006/main">
            <a:off x="5334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1">
                <a:solidFill>
                  <a:srgbClr val="3561DC"/>
                </a:solidFill>
                <a:latin typeface="Arial"/>
                <a:ea typeface="Arial"/>
                <a:cs typeface="Arial"/>
              </a:defRPr>
            </a:pPr>
            <a:r>
              <a:rPr sz="900" b="1">
                <a:solidFill>
                  <a:srgbClr val="3561DC"/>
                </a:solidFill>
                <a:latin typeface="Arial"/>
                <a:ea typeface="Arial"/>
                <a:cs typeface="Arial"/>
              </a:rPr>
              <a:t>FOUNDATION</a:t>
            </a:r>
          </a:p>
        </p:txBody>
      </p:sp>
      <p:sp>
        <p:nvSpPr>
          <p:cNvPr id="2" name="">
            <a:extLst xmlns:a="http://schemas.openxmlformats.org/drawingml/2006/main">
              <a:ext uri="{FF2B5EF4-FFF2-40B4-BE49-F238E27FC236}">
                <a16:creationId xmlns:a16="http://schemas.microsoft.com/office/drawing/2014/main" id="{F9AD0419-A9DD-461A-A28A-A28D2D20C3CB}"/>
              </a:ext>
            </a:extLst>
          </p:cNvPr>
          <p:cNvSpPr>
            <a:spLocks xmlns:a="http://schemas.openxmlformats.org/drawingml/2006/main" noGrp="1"/>
          </p:cNvSpPr>
          <p:nvPr/>
        </p:nvSpPr>
        <p:spPr>
          <a:xfrm xmlns:a="http://schemas.openxmlformats.org/drawingml/2006/main">
            <a:off x="533400" y="5334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1827"/>
                </a:solidFill>
                <a:latin typeface="Arial"/>
                <a:ea typeface="Arial"/>
                <a:cs typeface="Arial"/>
              </a:defRPr>
            </a:pPr>
            <a:r>
              <a:rPr sz="2700" b="1">
                <a:solidFill>
                  <a:srgbClr val="101827"/>
                </a:solidFill>
                <a:latin typeface="Arial"/>
                <a:ea typeface="Arial"/>
                <a:cs typeface="Arial"/>
              </a:rPr>
              <a:t>Real hardware constraints shaped every model decision</a:t>
            </a:r>
          </a:p>
        </p:txBody>
      </p:sp>
      <p:sp>
        <p:nvSpPr>
          <p:cNvPr id="3" name="">
            <a:extLst xmlns:a="http://schemas.openxmlformats.org/drawingml/2006/main">
              <a:ext uri="{FF2B5EF4-FFF2-40B4-BE49-F238E27FC236}">
                <a16:creationId xmlns:a16="http://schemas.microsoft.com/office/drawing/2014/main" id="{5B16E40A-1CD3-4258-8DDE-E03D581DF5C2}"/>
              </a:ext>
            </a:extLst>
          </p:cNvPr>
          <p:cNvSpPr>
            <a:spLocks xmlns:a="http://schemas.openxmlformats.org/drawingml/2006/main" noGrp="1"/>
          </p:cNvSpPr>
          <p:nvPr/>
        </p:nvSpPr>
        <p:spPr>
          <a:xfrm xmlns:a="http://schemas.openxmlformats.org/drawingml/2006/main">
            <a:off x="11258550" y="3429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E687B"/>
                </a:solidFill>
                <a:latin typeface="Arial"/>
                <a:ea typeface="Arial"/>
                <a:cs typeface="Arial"/>
              </a:defRPr>
            </a:pPr>
            <a:r>
              <a:rPr sz="900" b="0">
                <a:solidFill>
                  <a:srgbClr val="5E687B"/>
                </a:solidFill>
                <a:latin typeface="Arial"/>
                <a:ea typeface="Arial"/>
                <a:cs typeface="Arial"/>
              </a:rPr>
              <a:t>03</a:t>
            </a:r>
          </a:p>
        </p:txBody>
      </p:sp>
      <p:cxnSp>
        <p:nvCxnSpPr>
          <p:cNvPr id="24"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C9D0DC"/>
            </a:solidFill>
            <a:prstDash val="solid"/>
          </a:ln>
        </p:spPr>
      </p:cxnSp>
      <p:sp>
        <p:nvSpPr>
          <p:cNvPr id="5" name="">
            <a:extLst xmlns:a="http://schemas.openxmlformats.org/drawingml/2006/main">
              <a:ext uri="{FF2B5EF4-FFF2-40B4-BE49-F238E27FC236}">
                <a16:creationId xmlns:a16="http://schemas.microsoft.com/office/drawing/2014/main" id="{18F41FB4-6ADD-4A33-A886-3D929793EF70}"/>
              </a:ext>
            </a:extLst>
          </p:cNvPr>
          <p:cNvSpPr>
            <a:spLocks xmlns:a="http://schemas.openxmlformats.org/drawingml/2006/main" noGrp="1"/>
          </p:cNvSpPr>
          <p:nvPr/>
        </p:nvSpPr>
        <p:spPr>
          <a:xfrm xmlns:a="http://schemas.openxmlformats.org/drawingml/2006/main">
            <a:off x="552450" y="1504950"/>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00"/>
          </a:bodyPr>
          <a:lstStyle xmlns:a="http://schemas.openxmlformats.org/drawingml/2006/main"/>
          <a:p xmlns:a="http://schemas.openxmlformats.org/drawingml/2006/main">
            <a:pPr algn="l">
              <a:defRPr sz="1875" b="1">
                <a:solidFill>
                  <a:srgbClr val="101827"/>
                </a:solidFill>
                <a:latin typeface="Arial"/>
                <a:ea typeface="Arial"/>
                <a:cs typeface="Arial"/>
              </a:defRPr>
            </a:pPr>
            <a:r>
              <a:rPr sz="1875" b="1">
                <a:solidFill>
                  <a:srgbClr val="101827"/>
                </a:solidFill>
                <a:latin typeface="Arial"/>
                <a:ea typeface="Arial"/>
                <a:cs typeface="Arial"/>
              </a:rPr>
              <a:t>The first engineering task was compatibility, not prompting.</a:t>
            </a:r>
          </a:p>
        </p:txBody>
      </p:sp>
      <p:sp>
        <p:nvSpPr>
          <p:cNvPr id="6" name="">
            <a:extLst xmlns:a="http://schemas.openxmlformats.org/drawingml/2006/main">
              <a:ext uri="{FF2B5EF4-FFF2-40B4-BE49-F238E27FC236}">
                <a16:creationId xmlns:a16="http://schemas.microsoft.com/office/drawing/2014/main" id="{0DC88847-B743-4111-B40E-5AC6E47D8C5B}"/>
              </a:ext>
            </a:extLst>
          </p:cNvPr>
          <p:cNvSpPr>
            <a:spLocks xmlns:a="http://schemas.openxmlformats.org/drawingml/2006/main" noGrp="1"/>
          </p:cNvSpPr>
          <p:nvPr/>
        </p:nvSpPr>
        <p:spPr>
          <a:xfrm xmlns:a="http://schemas.openxmlformats.org/drawingml/2006/main">
            <a:off x="552450" y="2381250"/>
            <a:ext cx="3333750" cy="2362200"/>
          </a:xfrm>
          <a:prstGeom xmlns:a="http://schemas.openxmlformats.org/drawingml/2006/main" prst="roundRect">
            <a:avLst>
              <a:gd name="adj" fmla="val 4839"/>
            </a:avLst>
          </a:prstGeom>
          <a:solidFill xmlns:a="http://schemas.openxmlformats.org/drawingml/2006/main">
            <a:srgbClr val="E6ECFF"/>
          </a:solidFill>
          <a:ln xmlns:a="http://schemas.openxmlformats.org/drawingml/2006/main" w="9525">
            <a:solidFill>
              <a:srgbClr val="C9D0DC"/>
            </a:solidFill>
            <a:prstDash val="solid"/>
          </a:ln>
        </p:spPr>
      </p:sp>
      <p:sp>
        <p:nvSpPr>
          <p:cNvPr id="7" name="">
            <a:extLst xmlns:a="http://schemas.openxmlformats.org/drawingml/2006/main">
              <a:ext uri="{FF2B5EF4-FFF2-40B4-BE49-F238E27FC236}">
                <a16:creationId xmlns:a16="http://schemas.microsoft.com/office/drawing/2014/main" id="{5D5850C3-D247-4758-9932-6B98E8BE1102}"/>
              </a:ext>
            </a:extLst>
          </p:cNvPr>
          <p:cNvSpPr>
            <a:spLocks xmlns:a="http://schemas.openxmlformats.org/drawingml/2006/main" noGrp="1"/>
          </p:cNvSpPr>
          <p:nvPr/>
        </p:nvSpPr>
        <p:spPr>
          <a:xfrm xmlns:a="http://schemas.openxmlformats.org/drawingml/2006/main">
            <a:off x="762000" y="2571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178F3673-CBCC-4B36-8472-2378C6C52B71}"/>
              </a:ext>
            </a:extLst>
          </p:cNvPr>
          <p:cNvSpPr>
            <a:spLocks xmlns:a="http://schemas.openxmlformats.org/drawingml/2006/main" noGrp="1"/>
          </p:cNvSpPr>
          <p:nvPr/>
        </p:nvSpPr>
        <p:spPr>
          <a:xfrm xmlns:a="http://schemas.openxmlformats.org/drawingml/2006/main">
            <a:off x="762000" y="291465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7"/>
                </a:solidFill>
                <a:latin typeface="Arial"/>
                <a:ea typeface="Arial"/>
                <a:cs typeface="Arial"/>
              </a:defRPr>
            </a:pPr>
            <a:r>
              <a:rPr sz="1650" b="1">
                <a:solidFill>
                  <a:srgbClr val="101827"/>
                </a:solidFill>
                <a:latin typeface="Arial"/>
                <a:ea typeface="Arial"/>
                <a:cs typeface="Arial"/>
              </a:rPr>
              <a:t>Python 3.12</a:t>
            </a:r>
          </a:p>
        </p:txBody>
      </p:sp>
      <p:sp>
        <p:nvSpPr>
          <p:cNvPr id="9" name="">
            <a:extLst xmlns:a="http://schemas.openxmlformats.org/drawingml/2006/main">
              <a:ext uri="{FF2B5EF4-FFF2-40B4-BE49-F238E27FC236}">
                <a16:creationId xmlns:a16="http://schemas.microsoft.com/office/drawing/2014/main" id="{2EED038A-3479-4983-87F4-407CE90BFF65}"/>
              </a:ext>
            </a:extLst>
          </p:cNvPr>
          <p:cNvSpPr>
            <a:spLocks xmlns:a="http://schemas.openxmlformats.org/drawingml/2006/main" noGrp="1"/>
          </p:cNvSpPr>
          <p:nvPr/>
        </p:nvSpPr>
        <p:spPr>
          <a:xfrm xmlns:a="http://schemas.openxmlformats.org/drawingml/2006/main">
            <a:off x="762000" y="3429000"/>
            <a:ext cx="2914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Native ONNX Runtime wheels were available and stable, unlike the machine's default Python 3.14.</a:t>
            </a:r>
          </a:p>
        </p:txBody>
      </p:sp>
      <p:sp>
        <p:nvSpPr>
          <p:cNvPr id="10" name="">
            <a:extLst xmlns:a="http://schemas.openxmlformats.org/drawingml/2006/main">
              <a:ext uri="{FF2B5EF4-FFF2-40B4-BE49-F238E27FC236}">
                <a16:creationId xmlns:a16="http://schemas.microsoft.com/office/drawing/2014/main" id="{68F62A3E-8E8E-4597-82E0-4D11553A8F36}"/>
              </a:ext>
            </a:extLst>
          </p:cNvPr>
          <p:cNvSpPr>
            <a:spLocks xmlns:a="http://schemas.openxmlformats.org/drawingml/2006/main" noGrp="1"/>
          </p:cNvSpPr>
          <p:nvPr/>
        </p:nvSpPr>
        <p:spPr>
          <a:xfrm xmlns:a="http://schemas.openxmlformats.org/drawingml/2006/main">
            <a:off x="4267200" y="2381250"/>
            <a:ext cx="3333750" cy="2362200"/>
          </a:xfrm>
          <a:prstGeom xmlns:a="http://schemas.openxmlformats.org/drawingml/2006/main" prst="roundRect">
            <a:avLst>
              <a:gd name="adj" fmla="val 4839"/>
            </a:avLst>
          </a:prstGeom>
          <a:solidFill xmlns:a="http://schemas.openxmlformats.org/drawingml/2006/main">
            <a:srgbClr val="DFF5EA"/>
          </a:solidFill>
          <a:ln xmlns:a="http://schemas.openxmlformats.org/drawingml/2006/main" w="9525">
            <a:solidFill>
              <a:srgbClr val="C9D0DC"/>
            </a:solidFill>
            <a:prstDash val="solid"/>
          </a:ln>
        </p:spPr>
      </p:sp>
      <p:sp>
        <p:nvSpPr>
          <p:cNvPr id="11" name="">
            <a:extLst xmlns:a="http://schemas.openxmlformats.org/drawingml/2006/main">
              <a:ext uri="{FF2B5EF4-FFF2-40B4-BE49-F238E27FC236}">
                <a16:creationId xmlns:a16="http://schemas.microsoft.com/office/drawing/2014/main" id="{51E450A3-E324-42A9-A196-A37843C8FA03}"/>
              </a:ext>
            </a:extLst>
          </p:cNvPr>
          <p:cNvSpPr>
            <a:spLocks xmlns:a="http://schemas.openxmlformats.org/drawingml/2006/main" noGrp="1"/>
          </p:cNvSpPr>
          <p:nvPr/>
        </p:nvSpPr>
        <p:spPr>
          <a:xfrm xmlns:a="http://schemas.openxmlformats.org/drawingml/2006/main">
            <a:off x="4476750" y="2571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6111590D-4FE8-45B7-A3BE-DBA159D99C6A}"/>
              </a:ext>
            </a:extLst>
          </p:cNvPr>
          <p:cNvSpPr>
            <a:spLocks xmlns:a="http://schemas.openxmlformats.org/drawingml/2006/main" noGrp="1"/>
          </p:cNvSpPr>
          <p:nvPr/>
        </p:nvSpPr>
        <p:spPr>
          <a:xfrm xmlns:a="http://schemas.openxmlformats.org/drawingml/2006/main">
            <a:off x="4476750" y="291465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7"/>
                </a:solidFill>
                <a:latin typeface="Arial"/>
                <a:ea typeface="Arial"/>
                <a:cs typeface="Arial"/>
              </a:defRPr>
            </a:pPr>
            <a:r>
              <a:rPr sz="1650" b="1">
                <a:solidFill>
                  <a:srgbClr val="101827"/>
                </a:solidFill>
                <a:latin typeface="Arial"/>
                <a:ea typeface="Arial"/>
                <a:cs typeface="Arial"/>
              </a:rPr>
              <a:t>WinML SDK</a:t>
            </a:r>
          </a:p>
        </p:txBody>
      </p:sp>
      <p:sp>
        <p:nvSpPr>
          <p:cNvPr id="13" name="">
            <a:extLst xmlns:a="http://schemas.openxmlformats.org/drawingml/2006/main">
              <a:ext uri="{FF2B5EF4-FFF2-40B4-BE49-F238E27FC236}">
                <a16:creationId xmlns:a16="http://schemas.microsoft.com/office/drawing/2014/main" id="{534AB509-A43A-4906-A73A-F71EB9975446}"/>
              </a:ext>
            </a:extLst>
          </p:cNvPr>
          <p:cNvSpPr>
            <a:spLocks xmlns:a="http://schemas.openxmlformats.org/drawingml/2006/main" noGrp="1"/>
          </p:cNvSpPr>
          <p:nvPr/>
        </p:nvSpPr>
        <p:spPr>
          <a:xfrm xmlns:a="http://schemas.openxmlformats.org/drawingml/2006/main">
            <a:off x="4476750" y="3429000"/>
            <a:ext cx="2914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The Windows-specific package enabled the supported DirectML execution path and hardware acceleration.</a:t>
            </a:r>
          </a:p>
        </p:txBody>
      </p:sp>
      <p:sp>
        <p:nvSpPr>
          <p:cNvPr id="14" name="">
            <a:extLst xmlns:a="http://schemas.openxmlformats.org/drawingml/2006/main">
              <a:ext uri="{FF2B5EF4-FFF2-40B4-BE49-F238E27FC236}">
                <a16:creationId xmlns:a16="http://schemas.microsoft.com/office/drawing/2014/main" id="{93C74681-11EE-444F-A8E6-D3F078FDCD17}"/>
              </a:ext>
            </a:extLst>
          </p:cNvPr>
          <p:cNvSpPr>
            <a:spLocks xmlns:a="http://schemas.openxmlformats.org/drawingml/2006/main" noGrp="1"/>
          </p:cNvSpPr>
          <p:nvPr/>
        </p:nvSpPr>
        <p:spPr>
          <a:xfrm xmlns:a="http://schemas.openxmlformats.org/drawingml/2006/main">
            <a:off x="7981950" y="2381250"/>
            <a:ext cx="3333750" cy="2362200"/>
          </a:xfrm>
          <a:prstGeom xmlns:a="http://schemas.openxmlformats.org/drawingml/2006/main" prst="roundRect">
            <a:avLst>
              <a:gd name="adj" fmla="val 4839"/>
            </a:avLst>
          </a:prstGeom>
          <a:solidFill xmlns:a="http://schemas.openxmlformats.org/drawingml/2006/main">
            <a:srgbClr val="FFF2D4"/>
          </a:solidFill>
          <a:ln xmlns:a="http://schemas.openxmlformats.org/drawingml/2006/main" w="9525">
            <a:solidFill>
              <a:srgbClr val="C9D0DC"/>
            </a:solidFill>
            <a:prstDash val="solid"/>
          </a:ln>
        </p:spPr>
      </p:sp>
      <p:sp>
        <p:nvSpPr>
          <p:cNvPr id="15" name="">
            <a:extLst xmlns:a="http://schemas.openxmlformats.org/drawingml/2006/main">
              <a:ext uri="{FF2B5EF4-FFF2-40B4-BE49-F238E27FC236}">
                <a16:creationId xmlns:a16="http://schemas.microsoft.com/office/drawing/2014/main" id="{C68C6467-3B13-4C42-921D-843F9B1A435E}"/>
              </a:ext>
            </a:extLst>
          </p:cNvPr>
          <p:cNvSpPr>
            <a:spLocks xmlns:a="http://schemas.openxmlformats.org/drawingml/2006/main" noGrp="1"/>
          </p:cNvSpPr>
          <p:nvPr/>
        </p:nvSpPr>
        <p:spPr>
          <a:xfrm xmlns:a="http://schemas.openxmlformats.org/drawingml/2006/main">
            <a:off x="8191500" y="2571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3390D22A-10A0-4C5F-8FCB-9576939A0062}"/>
              </a:ext>
            </a:extLst>
          </p:cNvPr>
          <p:cNvSpPr>
            <a:spLocks xmlns:a="http://schemas.openxmlformats.org/drawingml/2006/main" noGrp="1"/>
          </p:cNvSpPr>
          <p:nvPr/>
        </p:nvSpPr>
        <p:spPr>
          <a:xfrm xmlns:a="http://schemas.openxmlformats.org/drawingml/2006/main">
            <a:off x="8191500" y="291465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7"/>
                </a:solidFill>
                <a:latin typeface="Arial"/>
                <a:ea typeface="Arial"/>
                <a:cs typeface="Arial"/>
              </a:defRPr>
            </a:pPr>
            <a:r>
              <a:rPr sz="1650" b="1">
                <a:solidFill>
                  <a:srgbClr val="101827"/>
                </a:solidFill>
                <a:latin typeface="Arial"/>
                <a:ea typeface="Arial"/>
                <a:cs typeface="Arial"/>
              </a:rPr>
              <a:t>Start small</a:t>
            </a:r>
          </a:p>
        </p:txBody>
      </p:sp>
      <p:sp>
        <p:nvSpPr>
          <p:cNvPr id="17" name="">
            <a:extLst xmlns:a="http://schemas.openxmlformats.org/drawingml/2006/main">
              <a:ext uri="{FF2B5EF4-FFF2-40B4-BE49-F238E27FC236}">
                <a16:creationId xmlns:a16="http://schemas.microsoft.com/office/drawing/2014/main" id="{BEA03A87-4EB8-49F4-A67E-78C7BD0AB824}"/>
              </a:ext>
            </a:extLst>
          </p:cNvPr>
          <p:cNvSpPr>
            <a:spLocks xmlns:a="http://schemas.openxmlformats.org/drawingml/2006/main" noGrp="1"/>
          </p:cNvSpPr>
          <p:nvPr/>
        </p:nvSpPr>
        <p:spPr>
          <a:xfrm xmlns:a="http://schemas.openxmlformats.org/drawingml/2006/main">
            <a:off x="8191500" y="3429000"/>
            <a:ext cx="29146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A 0.5B model proved the runtime. Evaluation later justified moving to 1.5B; 7B could not be obtained on this device.</a:t>
            </a:r>
          </a:p>
        </p:txBody>
      </p:sp>
      <p:sp>
        <p:nvSpPr>
          <p:cNvPr id="18" name="">
            <a:extLst xmlns:a="http://schemas.openxmlformats.org/drawingml/2006/main">
              <a:ext uri="{FF2B5EF4-FFF2-40B4-BE49-F238E27FC236}">
                <a16:creationId xmlns:a16="http://schemas.microsoft.com/office/drawing/2014/main" id="{33F5F46D-B4D9-44B3-A11C-9D05F19918CC}"/>
              </a:ext>
            </a:extLst>
          </p:cNvPr>
          <p:cNvSpPr>
            <a:spLocks xmlns:a="http://schemas.openxmlformats.org/drawingml/2006/main" noGrp="1"/>
          </p:cNvSpPr>
          <p:nvPr/>
        </p:nvSpPr>
        <p:spPr>
          <a:xfrm xmlns:a="http://schemas.openxmlformats.org/drawingml/2006/main">
            <a:off x="1619250" y="5238750"/>
            <a:ext cx="8953500" cy="685800"/>
          </a:xfrm>
          <a:prstGeom xmlns:a="http://schemas.openxmlformats.org/drawingml/2006/main" prst="roundRect">
            <a:avLst>
              <a:gd name="adj" fmla="val 16667"/>
            </a:avLst>
          </a:prstGeom>
          <a:solidFill xmlns:a="http://schemas.openxmlformats.org/drawingml/2006/main">
            <a:srgbClr val="0B1020"/>
          </a:solidFill>
          <a:ln xmlns:a="http://schemas.openxmlformats.org/drawingml/2006/main" w="0">
            <a:solidFill>
              <a:srgbClr val="0B1020"/>
            </a:solidFill>
            <a:prstDash val="solid"/>
          </a:ln>
        </p:spPr>
      </p:sp>
      <p:sp>
        <p:nvSpPr>
          <p:cNvPr id="19" name="">
            <a:extLst xmlns:a="http://schemas.openxmlformats.org/drawingml/2006/main">
              <a:ext uri="{FF2B5EF4-FFF2-40B4-BE49-F238E27FC236}">
                <a16:creationId xmlns:a16="http://schemas.microsoft.com/office/drawing/2014/main" id="{CA083B2F-317C-4395-8544-FB80CF75707E}"/>
              </a:ext>
            </a:extLst>
          </p:cNvPr>
          <p:cNvSpPr>
            <a:spLocks xmlns:a="http://schemas.openxmlformats.org/drawingml/2006/main" noGrp="1"/>
          </p:cNvSpPr>
          <p:nvPr/>
        </p:nvSpPr>
        <p:spPr>
          <a:xfrm xmlns:a="http://schemas.openxmlformats.org/drawingml/2006/main">
            <a:off x="1905000" y="5429250"/>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a:solidFill>
                  <a:srgbClr val="46C2E8"/>
                </a:solidFill>
                <a:latin typeface="Consolas"/>
                <a:ea typeface="Consolas"/>
                <a:cs typeface="Consolas"/>
              </a:defRPr>
            </a:pPr>
            <a:r>
              <a:rPr sz="1500" b="1">
                <a:solidFill>
                  <a:srgbClr val="46C2E8"/>
                </a:solidFill>
                <a:latin typeface="Consolas"/>
                <a:ea typeface="Consolas"/>
                <a:cs typeface="Consolas"/>
              </a:rPr>
              <a:t>dir()  →  type()  →  inspect.signature()  →  working SDK call</a:t>
            </a:r>
          </a:p>
        </p:txBody>
      </p:sp>
      <p:sp>
        <p:nvSpPr>
          <p:cNvPr id="20" name="">
            <a:extLst xmlns:a="http://schemas.openxmlformats.org/drawingml/2006/main">
              <a:ext uri="{FF2B5EF4-FFF2-40B4-BE49-F238E27FC236}">
                <a16:creationId xmlns:a16="http://schemas.microsoft.com/office/drawing/2014/main" id="{485DAAD8-2332-44BC-9C38-0BE20AED5EF6}"/>
              </a:ext>
            </a:extLst>
          </p:cNvPr>
          <p:cNvSpPr>
            <a:spLocks xmlns:a="http://schemas.openxmlformats.org/drawingml/2006/main" noGrp="1"/>
          </p:cNvSpPr>
          <p:nvPr/>
        </p:nvSpPr>
        <p:spPr>
          <a:xfrm xmlns:a="http://schemas.openxmlformats.org/drawingml/2006/main">
            <a:off x="533400" y="64960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defRPr sz="675" b="0">
                <a:solidFill>
                  <a:srgbClr val="5E687B"/>
                </a:solidFill>
                <a:latin typeface="Arial"/>
                <a:ea typeface="Arial"/>
                <a:cs typeface="Arial"/>
              </a:defRPr>
            </a:pPr>
            <a:r>
              <a:rPr sz="675" b="0">
                <a:solidFill>
                  <a:srgbClr val="5E687B"/>
                </a:solidFill>
                <a:latin typeface="Arial"/>
                <a:ea typeface="Arial"/>
                <a:cs typeface="Arial"/>
              </a:rPr>
              <a:t>Engineering journal: Sprint 0 and Issues #6, #14</a:t>
            </a:r>
          </a:p>
        </p:txBody>
      </p:sp>
    </p:spTree>
    <p:extLst>
      <p:ext uri="{BB962C8B-B14F-4D97-AF65-F5344CB8AC3E}">
        <p14:creationId xmlns:p14="http://schemas.microsoft.com/office/powerpoint/2010/main" val="4772521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258CAEF-4D90-4262-9741-424E2A86B9DF}"/>
              </a:ext>
            </a:extLst>
          </p:cNvPr>
          <p:cNvSpPr>
            <a:spLocks xmlns:a="http://schemas.openxmlformats.org/drawingml/2006/main" noGrp="1"/>
          </p:cNvSpPr>
          <p:nvPr/>
        </p:nvSpPr>
        <p:spPr>
          <a:xfrm xmlns:a="http://schemas.openxmlformats.org/drawingml/2006/main">
            <a:off x="5334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1">
                <a:solidFill>
                  <a:srgbClr val="3561DC"/>
                </a:solidFill>
                <a:latin typeface="Arial"/>
                <a:ea typeface="Arial"/>
                <a:cs typeface="Arial"/>
              </a:defRPr>
            </a:pPr>
            <a:r>
              <a:rPr sz="900" b="1">
                <a:solidFill>
                  <a:srgbClr val="3561DC"/>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7C54A22A-1F02-49CC-9A12-2B8EB8C8838E}"/>
              </a:ext>
            </a:extLst>
          </p:cNvPr>
          <p:cNvSpPr>
            <a:spLocks xmlns:a="http://schemas.openxmlformats.org/drawingml/2006/main" noGrp="1"/>
          </p:cNvSpPr>
          <p:nvPr/>
        </p:nvSpPr>
        <p:spPr>
          <a:xfrm xmlns:a="http://schemas.openxmlformats.org/drawingml/2006/main">
            <a:off x="533400" y="5334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337"/>
          </a:bodyPr>
          <a:lstStyle xmlns:a="http://schemas.openxmlformats.org/drawingml/2006/main"/>
          <a:p xmlns:a="http://schemas.openxmlformats.org/drawingml/2006/main">
            <a:pPr algn="l">
              <a:defRPr sz="2700" b="1">
                <a:solidFill>
                  <a:srgbClr val="101827"/>
                </a:solidFill>
                <a:latin typeface="Arial"/>
                <a:ea typeface="Arial"/>
                <a:cs typeface="Arial"/>
              </a:defRPr>
            </a:pPr>
            <a:r>
              <a:rPr sz="2700" b="1">
                <a:solidFill>
                  <a:srgbClr val="101827"/>
                </a:solidFill>
                <a:latin typeface="Arial"/>
                <a:ea typeface="Arial"/>
                <a:cs typeface="Arial"/>
              </a:rPr>
              <a:t>RAG changed the model from a guesser into a grounded assistant</a:t>
            </a:r>
          </a:p>
        </p:txBody>
      </p:sp>
      <p:sp>
        <p:nvSpPr>
          <p:cNvPr id="3" name="">
            <a:extLst xmlns:a="http://schemas.openxmlformats.org/drawingml/2006/main">
              <a:ext uri="{FF2B5EF4-FFF2-40B4-BE49-F238E27FC236}">
                <a16:creationId xmlns:a16="http://schemas.microsoft.com/office/drawing/2014/main" id="{E99C06B0-AFF4-4494-B4D7-6858E0EA4034}"/>
              </a:ext>
            </a:extLst>
          </p:cNvPr>
          <p:cNvSpPr>
            <a:spLocks xmlns:a="http://schemas.openxmlformats.org/drawingml/2006/main" noGrp="1"/>
          </p:cNvSpPr>
          <p:nvPr/>
        </p:nvSpPr>
        <p:spPr>
          <a:xfrm xmlns:a="http://schemas.openxmlformats.org/drawingml/2006/main">
            <a:off x="11258550" y="3429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E687B"/>
                </a:solidFill>
                <a:latin typeface="Arial"/>
                <a:ea typeface="Arial"/>
                <a:cs typeface="Arial"/>
              </a:defRPr>
            </a:pPr>
            <a:r>
              <a:rPr sz="900" b="0">
                <a:solidFill>
                  <a:srgbClr val="5E687B"/>
                </a:solidFill>
                <a:latin typeface="Arial"/>
                <a:ea typeface="Arial"/>
                <a:cs typeface="Arial"/>
              </a:rPr>
              <a:t>04</a:t>
            </a:r>
          </a:p>
        </p:txBody>
      </p:sp>
      <p:cxnSp>
        <p:nvCxnSpPr>
          <p:cNvPr id="30"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C9D0DC"/>
            </a:solidFill>
            <a:prstDash val="solid"/>
          </a:ln>
        </p:spPr>
      </p:cxnSp>
      <p:cxnSp>
        <p:nvCxnSpPr>
          <p:cNvPr id="31" name=""/>
          <p:cNvCxnSpPr/>
          <p:nvPr/>
        </p:nvCxnSpPr>
        <p:spPr>
          <a:xfrm xmlns:a="http://schemas.openxmlformats.org/drawingml/2006/main">
            <a:off x="2114550" y="3067050"/>
            <a:ext cx="476250" cy="0"/>
          </a:xfrm>
          <a:prstGeom xmlns:a="http://schemas.openxmlformats.org/drawingml/2006/main" prst="straightConnector1">
            <a:avLst/>
          </a:prstGeom>
          <a:ln xmlns:a="http://schemas.openxmlformats.org/drawingml/2006/main" w="28575">
            <a:solidFill>
              <a:srgbClr val="3561DC"/>
            </a:solidFill>
            <a:prstDash val="solid"/>
          </a:ln>
        </p:spPr>
      </p:cxnSp>
      <p:cxnSp>
        <p:nvCxnSpPr>
          <p:cNvPr id="32" name=""/>
          <p:cNvCxnSpPr/>
          <p:nvPr/>
        </p:nvCxnSpPr>
        <p:spPr>
          <a:xfrm xmlns:a="http://schemas.openxmlformats.org/drawingml/2006/main">
            <a:off x="4191000" y="3067050"/>
            <a:ext cx="476250" cy="0"/>
          </a:xfrm>
          <a:prstGeom xmlns:a="http://schemas.openxmlformats.org/drawingml/2006/main" prst="straightConnector1">
            <a:avLst/>
          </a:prstGeom>
          <a:ln xmlns:a="http://schemas.openxmlformats.org/drawingml/2006/main" w="28575">
            <a:solidFill>
              <a:srgbClr val="3561DC"/>
            </a:solidFill>
            <a:prstDash val="solid"/>
          </a:ln>
        </p:spPr>
      </p:cxnSp>
      <p:cxnSp>
        <p:nvCxnSpPr>
          <p:cNvPr id="33" name=""/>
          <p:cNvCxnSpPr/>
          <p:nvPr/>
        </p:nvCxnSpPr>
        <p:spPr>
          <a:xfrm xmlns:a="http://schemas.openxmlformats.org/drawingml/2006/main">
            <a:off x="6477000" y="3067050"/>
            <a:ext cx="476250" cy="0"/>
          </a:xfrm>
          <a:prstGeom xmlns:a="http://schemas.openxmlformats.org/drawingml/2006/main" prst="straightConnector1">
            <a:avLst/>
          </a:prstGeom>
          <a:ln xmlns:a="http://schemas.openxmlformats.org/drawingml/2006/main" w="28575">
            <a:solidFill>
              <a:srgbClr val="3561DC"/>
            </a:solidFill>
            <a:prstDash val="solid"/>
          </a:ln>
        </p:spPr>
      </p:cxnSp>
      <p:cxnSp>
        <p:nvCxnSpPr>
          <p:cNvPr id="34" name=""/>
          <p:cNvCxnSpPr/>
          <p:nvPr/>
        </p:nvCxnSpPr>
        <p:spPr>
          <a:xfrm xmlns:a="http://schemas.openxmlformats.org/drawingml/2006/main">
            <a:off x="8763000" y="3067050"/>
            <a:ext cx="476250" cy="0"/>
          </a:xfrm>
          <a:prstGeom xmlns:a="http://schemas.openxmlformats.org/drawingml/2006/main" prst="straightConnector1">
            <a:avLst/>
          </a:prstGeom>
          <a:ln xmlns:a="http://schemas.openxmlformats.org/drawingml/2006/main" w="28575">
            <a:solidFill>
              <a:srgbClr val="3561DC"/>
            </a:solidFill>
            <a:prstDash val="solid"/>
          </a:ln>
        </p:spPr>
      </p:cxnSp>
      <p:sp>
        <p:nvSpPr>
          <p:cNvPr id="9" name="">
            <a:extLst xmlns:a="http://schemas.openxmlformats.org/drawingml/2006/main">
              <a:ext uri="{FF2B5EF4-FFF2-40B4-BE49-F238E27FC236}">
                <a16:creationId xmlns:a16="http://schemas.microsoft.com/office/drawing/2014/main" id="{3A6BEABA-3120-45B5-8839-C9BFB48122B1}"/>
              </a:ext>
            </a:extLst>
          </p:cNvPr>
          <p:cNvSpPr>
            <a:spLocks xmlns:a="http://schemas.openxmlformats.org/drawingml/2006/main" noGrp="1"/>
          </p:cNvSpPr>
          <p:nvPr/>
        </p:nvSpPr>
        <p:spPr>
          <a:xfrm xmlns:a="http://schemas.openxmlformats.org/drawingml/2006/main">
            <a:off x="514350" y="2238375"/>
            <a:ext cx="1600200" cy="1657350"/>
          </a:xfrm>
          <a:prstGeom xmlns:a="http://schemas.openxmlformats.org/drawingml/2006/main" prst="roundRect">
            <a:avLst>
              <a:gd name="adj" fmla="val 7143"/>
            </a:avLst>
          </a:prstGeom>
          <a:solidFill xmlns:a="http://schemas.openxmlformats.org/drawingml/2006/main">
            <a:srgbClr val="F3F5F8"/>
          </a:solidFill>
          <a:ln xmlns:a="http://schemas.openxmlformats.org/drawingml/2006/main" w="9525">
            <a:solidFill>
              <a:srgbClr val="C9D0DC"/>
            </a:solidFill>
            <a:prstDash val="solid"/>
          </a:ln>
        </p:spPr>
      </p:sp>
      <p:sp>
        <p:nvSpPr>
          <p:cNvPr id="10" name="">
            <a:extLst xmlns:a="http://schemas.openxmlformats.org/drawingml/2006/main">
              <a:ext uri="{FF2B5EF4-FFF2-40B4-BE49-F238E27FC236}">
                <a16:creationId xmlns:a16="http://schemas.microsoft.com/office/drawing/2014/main" id="{6C8AF91D-24B1-42FA-A226-003568D566D1}"/>
              </a:ext>
            </a:extLst>
          </p:cNvPr>
          <p:cNvSpPr>
            <a:spLocks xmlns:a="http://schemas.openxmlformats.org/drawingml/2006/main" noGrp="1"/>
          </p:cNvSpPr>
          <p:nvPr/>
        </p:nvSpPr>
        <p:spPr>
          <a:xfrm xmlns:a="http://schemas.openxmlformats.org/drawingml/2006/main">
            <a:off x="685800" y="25527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827"/>
                </a:solidFill>
                <a:latin typeface="Arial"/>
                <a:ea typeface="Arial"/>
                <a:cs typeface="Arial"/>
              </a:defRPr>
            </a:pPr>
            <a:r>
              <a:rPr sz="1500" b="1">
                <a:solidFill>
                  <a:srgbClr val="101827"/>
                </a:solidFill>
                <a:latin typeface="Arial"/>
                <a:ea typeface="Arial"/>
                <a:cs typeface="Arial"/>
              </a:rPr>
              <a:t>Question</a:t>
            </a:r>
          </a:p>
        </p:txBody>
      </p:sp>
      <p:sp>
        <p:nvSpPr>
          <p:cNvPr id="11" name="">
            <a:extLst xmlns:a="http://schemas.openxmlformats.org/drawingml/2006/main">
              <a:ext uri="{FF2B5EF4-FFF2-40B4-BE49-F238E27FC236}">
                <a16:creationId xmlns:a16="http://schemas.microsoft.com/office/drawing/2014/main" id="{87AA1B65-C6FE-4940-A925-954CC166B94B}"/>
              </a:ext>
            </a:extLst>
          </p:cNvPr>
          <p:cNvSpPr>
            <a:spLocks xmlns:a="http://schemas.openxmlformats.org/drawingml/2006/main" noGrp="1"/>
          </p:cNvSpPr>
          <p:nvPr/>
        </p:nvSpPr>
        <p:spPr>
          <a:xfrm xmlns:a="http://schemas.openxmlformats.org/drawingml/2006/main">
            <a:off x="685800" y="3105150"/>
            <a:ext cx="125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User question</a:t>
            </a:r>
          </a:p>
        </p:txBody>
      </p:sp>
      <p:sp>
        <p:nvSpPr>
          <p:cNvPr id="12" name="">
            <a:extLst xmlns:a="http://schemas.openxmlformats.org/drawingml/2006/main">
              <a:ext uri="{FF2B5EF4-FFF2-40B4-BE49-F238E27FC236}">
                <a16:creationId xmlns:a16="http://schemas.microsoft.com/office/drawing/2014/main" id="{2478BAC4-166C-407B-8EFF-33540FAF23E4}"/>
              </a:ext>
            </a:extLst>
          </p:cNvPr>
          <p:cNvSpPr>
            <a:spLocks xmlns:a="http://schemas.openxmlformats.org/drawingml/2006/main" noGrp="1"/>
          </p:cNvSpPr>
          <p:nvPr/>
        </p:nvSpPr>
        <p:spPr>
          <a:xfrm xmlns:a="http://schemas.openxmlformats.org/drawingml/2006/main">
            <a:off x="2590800" y="2238375"/>
            <a:ext cx="1600200" cy="1657350"/>
          </a:xfrm>
          <a:prstGeom xmlns:a="http://schemas.openxmlformats.org/drawingml/2006/main" prst="roundRect">
            <a:avLst>
              <a:gd name="adj" fmla="val 7143"/>
            </a:avLst>
          </a:prstGeom>
          <a:solidFill xmlns:a="http://schemas.openxmlformats.org/drawingml/2006/main">
            <a:srgbClr val="E6ECFF"/>
          </a:solidFill>
          <a:ln xmlns:a="http://schemas.openxmlformats.org/drawingml/2006/main" w="9525">
            <a:solidFill>
              <a:srgbClr val="C9D0DC"/>
            </a:solidFill>
            <a:prstDash val="solid"/>
          </a:ln>
        </p:spPr>
      </p:sp>
      <p:sp>
        <p:nvSpPr>
          <p:cNvPr id="13" name="">
            <a:extLst xmlns:a="http://schemas.openxmlformats.org/drawingml/2006/main">
              <a:ext uri="{FF2B5EF4-FFF2-40B4-BE49-F238E27FC236}">
                <a16:creationId xmlns:a16="http://schemas.microsoft.com/office/drawing/2014/main" id="{733C1AA9-28AE-46F6-BAC8-18774A62EA2C}"/>
              </a:ext>
            </a:extLst>
          </p:cNvPr>
          <p:cNvSpPr>
            <a:spLocks xmlns:a="http://schemas.openxmlformats.org/drawingml/2006/main" noGrp="1"/>
          </p:cNvSpPr>
          <p:nvPr/>
        </p:nvSpPr>
        <p:spPr>
          <a:xfrm xmlns:a="http://schemas.openxmlformats.org/drawingml/2006/main">
            <a:off x="2762250" y="25527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827"/>
                </a:solidFill>
                <a:latin typeface="Arial"/>
                <a:ea typeface="Arial"/>
                <a:cs typeface="Arial"/>
              </a:defRPr>
            </a:pPr>
            <a:r>
              <a:rPr sz="1500" b="1">
                <a:solidFill>
                  <a:srgbClr val="101827"/>
                </a:solidFill>
                <a:latin typeface="Arial"/>
                <a:ea typeface="Arial"/>
                <a:cs typeface="Arial"/>
              </a:rPr>
              <a:t>Embedding</a:t>
            </a:r>
          </a:p>
        </p:txBody>
      </p:sp>
      <p:sp>
        <p:nvSpPr>
          <p:cNvPr id="14" name="">
            <a:extLst xmlns:a="http://schemas.openxmlformats.org/drawingml/2006/main">
              <a:ext uri="{FF2B5EF4-FFF2-40B4-BE49-F238E27FC236}">
                <a16:creationId xmlns:a16="http://schemas.microsoft.com/office/drawing/2014/main" id="{2684B613-46B0-4212-B6B6-640D2AC0B761}"/>
              </a:ext>
            </a:extLst>
          </p:cNvPr>
          <p:cNvSpPr>
            <a:spLocks xmlns:a="http://schemas.openxmlformats.org/drawingml/2006/main" noGrp="1"/>
          </p:cNvSpPr>
          <p:nvPr/>
        </p:nvSpPr>
        <p:spPr>
          <a:xfrm xmlns:a="http://schemas.openxmlformats.org/drawingml/2006/main">
            <a:off x="2762250" y="3105150"/>
            <a:ext cx="125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qwen3 · 1024D</a:t>
            </a:r>
          </a:p>
        </p:txBody>
      </p:sp>
      <p:sp>
        <p:nvSpPr>
          <p:cNvPr id="15" name="">
            <a:extLst xmlns:a="http://schemas.openxmlformats.org/drawingml/2006/main">
              <a:ext uri="{FF2B5EF4-FFF2-40B4-BE49-F238E27FC236}">
                <a16:creationId xmlns:a16="http://schemas.microsoft.com/office/drawing/2014/main" id="{186CC486-25FA-47E0-BA00-EF47168A36C3}"/>
              </a:ext>
            </a:extLst>
          </p:cNvPr>
          <p:cNvSpPr>
            <a:spLocks xmlns:a="http://schemas.openxmlformats.org/drawingml/2006/main" noGrp="1"/>
          </p:cNvSpPr>
          <p:nvPr/>
        </p:nvSpPr>
        <p:spPr>
          <a:xfrm xmlns:a="http://schemas.openxmlformats.org/drawingml/2006/main">
            <a:off x="4667250" y="2238375"/>
            <a:ext cx="1809750" cy="1657350"/>
          </a:xfrm>
          <a:prstGeom xmlns:a="http://schemas.openxmlformats.org/drawingml/2006/main" prst="roundRect">
            <a:avLst>
              <a:gd name="adj" fmla="val 6897"/>
            </a:avLst>
          </a:prstGeom>
          <a:solidFill xmlns:a="http://schemas.openxmlformats.org/drawingml/2006/main">
            <a:srgbClr val="FFF2D4"/>
          </a:solidFill>
          <a:ln xmlns:a="http://schemas.openxmlformats.org/drawingml/2006/main" w="9525">
            <a:solidFill>
              <a:srgbClr val="C9D0DC"/>
            </a:solidFill>
            <a:prstDash val="solid"/>
          </a:ln>
        </p:spPr>
      </p:sp>
      <p:sp>
        <p:nvSpPr>
          <p:cNvPr id="16" name="">
            <a:extLst xmlns:a="http://schemas.openxmlformats.org/drawingml/2006/main">
              <a:ext uri="{FF2B5EF4-FFF2-40B4-BE49-F238E27FC236}">
                <a16:creationId xmlns:a16="http://schemas.microsoft.com/office/drawing/2014/main" id="{3F3DDD38-910B-49A6-A568-5F59449118B8}"/>
              </a:ext>
            </a:extLst>
          </p:cNvPr>
          <p:cNvSpPr>
            <a:spLocks xmlns:a="http://schemas.openxmlformats.org/drawingml/2006/main" noGrp="1"/>
          </p:cNvSpPr>
          <p:nvPr/>
        </p:nvSpPr>
        <p:spPr>
          <a:xfrm xmlns:a="http://schemas.openxmlformats.org/drawingml/2006/main">
            <a:off x="4838700" y="255270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352"/>
          </a:bodyPr>
          <a:lstStyle xmlns:a="http://schemas.openxmlformats.org/drawingml/2006/main"/>
          <a:p xmlns:a="http://schemas.openxmlformats.org/drawingml/2006/main">
            <a:pPr algn="l">
              <a:defRPr sz="1500" b="1">
                <a:solidFill>
                  <a:srgbClr val="101827"/>
                </a:solidFill>
                <a:latin typeface="Arial"/>
                <a:ea typeface="Arial"/>
                <a:cs typeface="Arial"/>
              </a:defRPr>
            </a:pPr>
            <a:r>
              <a:rPr sz="1500" b="1">
                <a:solidFill>
                  <a:srgbClr val="101827"/>
                </a:solidFill>
                <a:latin typeface="Arial"/>
                <a:ea typeface="Arial"/>
                <a:cs typeface="Arial"/>
              </a:rPr>
              <a:t>SQLite retrieval</a:t>
            </a:r>
          </a:p>
        </p:txBody>
      </p:sp>
      <p:sp>
        <p:nvSpPr>
          <p:cNvPr id="17" name="">
            <a:extLst xmlns:a="http://schemas.openxmlformats.org/drawingml/2006/main">
              <a:ext uri="{FF2B5EF4-FFF2-40B4-BE49-F238E27FC236}">
                <a16:creationId xmlns:a16="http://schemas.microsoft.com/office/drawing/2014/main" id="{B23F3000-147E-4C3D-8E70-15607EEA84DE}"/>
              </a:ext>
            </a:extLst>
          </p:cNvPr>
          <p:cNvSpPr>
            <a:spLocks xmlns:a="http://schemas.openxmlformats.org/drawingml/2006/main" noGrp="1"/>
          </p:cNvSpPr>
          <p:nvPr/>
        </p:nvSpPr>
        <p:spPr>
          <a:xfrm xmlns:a="http://schemas.openxmlformats.org/drawingml/2006/main">
            <a:off x="4838700" y="31051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Cosine score · Top 3</a:t>
            </a:r>
          </a:p>
        </p:txBody>
      </p:sp>
      <p:sp>
        <p:nvSpPr>
          <p:cNvPr id="18" name="">
            <a:extLst xmlns:a="http://schemas.openxmlformats.org/drawingml/2006/main">
              <a:ext uri="{FF2B5EF4-FFF2-40B4-BE49-F238E27FC236}">
                <a16:creationId xmlns:a16="http://schemas.microsoft.com/office/drawing/2014/main" id="{A71858C3-EBAB-43EC-B885-A44A17C19FEA}"/>
              </a:ext>
            </a:extLst>
          </p:cNvPr>
          <p:cNvSpPr>
            <a:spLocks xmlns:a="http://schemas.openxmlformats.org/drawingml/2006/main" noGrp="1"/>
          </p:cNvSpPr>
          <p:nvPr/>
        </p:nvSpPr>
        <p:spPr>
          <a:xfrm xmlns:a="http://schemas.openxmlformats.org/drawingml/2006/main">
            <a:off x="6953250" y="2238375"/>
            <a:ext cx="1809750" cy="1657350"/>
          </a:xfrm>
          <a:prstGeom xmlns:a="http://schemas.openxmlformats.org/drawingml/2006/main" prst="roundRect">
            <a:avLst>
              <a:gd name="adj" fmla="val 6897"/>
            </a:avLst>
          </a:prstGeom>
          <a:solidFill xmlns:a="http://schemas.openxmlformats.org/drawingml/2006/main">
            <a:srgbClr val="DFF5EA"/>
          </a:solidFill>
          <a:ln xmlns:a="http://schemas.openxmlformats.org/drawingml/2006/main" w="9525">
            <a:solidFill>
              <a:srgbClr val="C9D0DC"/>
            </a:solidFill>
            <a:prstDash val="solid"/>
          </a:ln>
        </p:spPr>
      </p:sp>
      <p:sp>
        <p:nvSpPr>
          <p:cNvPr id="19" name="">
            <a:extLst xmlns:a="http://schemas.openxmlformats.org/drawingml/2006/main">
              <a:ext uri="{FF2B5EF4-FFF2-40B4-BE49-F238E27FC236}">
                <a16:creationId xmlns:a16="http://schemas.microsoft.com/office/drawing/2014/main" id="{4B3D213A-E3D3-4A58-8BFF-1709A7A1007E}"/>
              </a:ext>
            </a:extLst>
          </p:cNvPr>
          <p:cNvSpPr>
            <a:spLocks xmlns:a="http://schemas.openxmlformats.org/drawingml/2006/main" noGrp="1"/>
          </p:cNvSpPr>
          <p:nvPr/>
        </p:nvSpPr>
        <p:spPr>
          <a:xfrm xmlns:a="http://schemas.openxmlformats.org/drawingml/2006/main">
            <a:off x="7124700" y="255270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52"/>
          </a:bodyPr>
          <a:lstStyle xmlns:a="http://schemas.openxmlformats.org/drawingml/2006/main"/>
          <a:p xmlns:a="http://schemas.openxmlformats.org/drawingml/2006/main">
            <a:pPr algn="l">
              <a:defRPr sz="1500" b="1">
                <a:solidFill>
                  <a:srgbClr val="101827"/>
                </a:solidFill>
                <a:latin typeface="Arial"/>
                <a:ea typeface="Arial"/>
                <a:cs typeface="Arial"/>
              </a:defRPr>
            </a:pPr>
            <a:r>
              <a:rPr sz="1500" b="1">
                <a:solidFill>
                  <a:srgbClr val="101827"/>
                </a:solidFill>
                <a:latin typeface="Arial"/>
                <a:ea typeface="Arial"/>
                <a:cs typeface="Arial"/>
              </a:rPr>
              <a:t>Grounded prompt</a:t>
            </a:r>
          </a:p>
        </p:txBody>
      </p:sp>
      <p:sp>
        <p:nvSpPr>
          <p:cNvPr id="20" name="">
            <a:extLst xmlns:a="http://schemas.openxmlformats.org/drawingml/2006/main">
              <a:ext uri="{FF2B5EF4-FFF2-40B4-BE49-F238E27FC236}">
                <a16:creationId xmlns:a16="http://schemas.microsoft.com/office/drawing/2014/main" id="{6E54F81F-E2CA-4F8E-BEE5-BB05FE10A9AE}"/>
              </a:ext>
            </a:extLst>
          </p:cNvPr>
          <p:cNvSpPr>
            <a:spLocks xmlns:a="http://schemas.openxmlformats.org/drawingml/2006/main" noGrp="1"/>
          </p:cNvSpPr>
          <p:nvPr/>
        </p:nvSpPr>
        <p:spPr>
          <a:xfrm xmlns:a="http://schemas.openxmlformats.org/drawingml/2006/main">
            <a:off x="7124700" y="31051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Context + refusal rule</a:t>
            </a:r>
          </a:p>
        </p:txBody>
      </p:sp>
      <p:sp>
        <p:nvSpPr>
          <p:cNvPr id="21" name="">
            <a:extLst xmlns:a="http://schemas.openxmlformats.org/drawingml/2006/main">
              <a:ext uri="{FF2B5EF4-FFF2-40B4-BE49-F238E27FC236}">
                <a16:creationId xmlns:a16="http://schemas.microsoft.com/office/drawing/2014/main" id="{9FE6944B-B183-46B7-A05F-0612490D6247}"/>
              </a:ext>
            </a:extLst>
          </p:cNvPr>
          <p:cNvSpPr>
            <a:spLocks xmlns:a="http://schemas.openxmlformats.org/drawingml/2006/main" noGrp="1"/>
          </p:cNvSpPr>
          <p:nvPr/>
        </p:nvSpPr>
        <p:spPr>
          <a:xfrm xmlns:a="http://schemas.openxmlformats.org/drawingml/2006/main">
            <a:off x="9239250" y="2238375"/>
            <a:ext cx="1962150" cy="1657350"/>
          </a:xfrm>
          <a:prstGeom xmlns:a="http://schemas.openxmlformats.org/drawingml/2006/main" prst="roundRect">
            <a:avLst>
              <a:gd name="adj" fmla="val 6897"/>
            </a:avLst>
          </a:prstGeom>
          <a:solidFill xmlns:a="http://schemas.openxmlformats.org/drawingml/2006/main">
            <a:srgbClr val="E6ECFF"/>
          </a:solidFill>
          <a:ln xmlns:a="http://schemas.openxmlformats.org/drawingml/2006/main" w="9525">
            <a:solidFill>
              <a:srgbClr val="C9D0DC"/>
            </a:solidFill>
            <a:prstDash val="solid"/>
          </a:ln>
        </p:spPr>
      </p:sp>
      <p:sp>
        <p:nvSpPr>
          <p:cNvPr id="22" name="">
            <a:extLst xmlns:a="http://schemas.openxmlformats.org/drawingml/2006/main">
              <a:ext uri="{FF2B5EF4-FFF2-40B4-BE49-F238E27FC236}">
                <a16:creationId xmlns:a16="http://schemas.microsoft.com/office/drawing/2014/main" id="{57825BFD-95D0-41AC-AFF3-0CAF89497E7D}"/>
              </a:ext>
            </a:extLst>
          </p:cNvPr>
          <p:cNvSpPr>
            <a:spLocks xmlns:a="http://schemas.openxmlformats.org/drawingml/2006/main" noGrp="1"/>
          </p:cNvSpPr>
          <p:nvPr/>
        </p:nvSpPr>
        <p:spPr>
          <a:xfrm xmlns:a="http://schemas.openxmlformats.org/drawingml/2006/main">
            <a:off x="9410700" y="255270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827"/>
                </a:solidFill>
                <a:latin typeface="Arial"/>
                <a:ea typeface="Arial"/>
                <a:cs typeface="Arial"/>
              </a:defRPr>
            </a:pPr>
            <a:r>
              <a:rPr sz="1500" b="1">
                <a:solidFill>
                  <a:srgbClr val="101827"/>
                </a:solidFill>
                <a:latin typeface="Arial"/>
                <a:ea typeface="Arial"/>
                <a:cs typeface="Arial"/>
              </a:rPr>
              <a:t>Foundry Local</a:t>
            </a:r>
          </a:p>
        </p:txBody>
      </p:sp>
      <p:sp>
        <p:nvSpPr>
          <p:cNvPr id="23" name="">
            <a:extLst xmlns:a="http://schemas.openxmlformats.org/drawingml/2006/main">
              <a:ext uri="{FF2B5EF4-FFF2-40B4-BE49-F238E27FC236}">
                <a16:creationId xmlns:a16="http://schemas.microsoft.com/office/drawing/2014/main" id="{7D8B415F-7358-4273-B0C7-844008F4F496}"/>
              </a:ext>
            </a:extLst>
          </p:cNvPr>
          <p:cNvSpPr>
            <a:spLocks xmlns:a="http://schemas.openxmlformats.org/drawingml/2006/main" noGrp="1"/>
          </p:cNvSpPr>
          <p:nvPr/>
        </p:nvSpPr>
        <p:spPr>
          <a:xfrm xmlns:a="http://schemas.openxmlformats.org/drawingml/2006/main">
            <a:off x="9410700" y="31051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qwen2.5-1.5b · local</a:t>
            </a:r>
          </a:p>
        </p:txBody>
      </p:sp>
      <p:sp>
        <p:nvSpPr>
          <p:cNvPr id="24" name="">
            <a:extLst xmlns:a="http://schemas.openxmlformats.org/drawingml/2006/main">
              <a:ext uri="{FF2B5EF4-FFF2-40B4-BE49-F238E27FC236}">
                <a16:creationId xmlns:a16="http://schemas.microsoft.com/office/drawing/2014/main" id="{38A51A8D-AE5C-43F6-A2E0-813A73585F8A}"/>
              </a:ext>
            </a:extLst>
          </p:cNvPr>
          <p:cNvSpPr>
            <a:spLocks xmlns:a="http://schemas.openxmlformats.org/drawingml/2006/main" noGrp="1"/>
          </p:cNvSpPr>
          <p:nvPr/>
        </p:nvSpPr>
        <p:spPr>
          <a:xfrm xmlns:a="http://schemas.openxmlformats.org/drawingml/2006/main">
            <a:off x="1809750" y="4686300"/>
            <a:ext cx="8572500" cy="971550"/>
          </a:xfrm>
          <a:prstGeom xmlns:a="http://schemas.openxmlformats.org/drawingml/2006/main" prst="roundRect">
            <a:avLst>
              <a:gd name="adj" fmla="val 11765"/>
            </a:avLst>
          </a:prstGeom>
          <a:solidFill xmlns:a="http://schemas.openxmlformats.org/drawingml/2006/main">
            <a:srgbClr val="0B1020"/>
          </a:solidFill>
          <a:ln xmlns:a="http://schemas.openxmlformats.org/drawingml/2006/main" w="0">
            <a:solidFill>
              <a:srgbClr val="0B1020"/>
            </a:solidFill>
            <a:prstDash val="solid"/>
          </a:ln>
        </p:spPr>
      </p:sp>
      <p:sp>
        <p:nvSpPr>
          <p:cNvPr id="25" name="">
            <a:extLst xmlns:a="http://schemas.openxmlformats.org/drawingml/2006/main">
              <a:ext uri="{FF2B5EF4-FFF2-40B4-BE49-F238E27FC236}">
                <a16:creationId xmlns:a16="http://schemas.microsoft.com/office/drawing/2014/main" id="{3544B792-BC5E-48F9-863A-8EF524CF1765}"/>
              </a:ext>
            </a:extLst>
          </p:cNvPr>
          <p:cNvSpPr>
            <a:spLocks xmlns:a="http://schemas.openxmlformats.org/drawingml/2006/main" noGrp="1"/>
          </p:cNvSpPr>
          <p:nvPr/>
        </p:nvSpPr>
        <p:spPr>
          <a:xfrm xmlns:a="http://schemas.openxmlformats.org/drawingml/2006/main">
            <a:off x="2190750" y="4933950"/>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95"/>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Documents, embeddings, prompts, and answers stay on the device after required artifacts are cached.</a:t>
            </a:r>
          </a:p>
        </p:txBody>
      </p:sp>
      <p:sp>
        <p:nvSpPr>
          <p:cNvPr id="26" name="">
            <a:extLst xmlns:a="http://schemas.openxmlformats.org/drawingml/2006/main">
              <a:ext uri="{FF2B5EF4-FFF2-40B4-BE49-F238E27FC236}">
                <a16:creationId xmlns:a16="http://schemas.microsoft.com/office/drawing/2014/main" id="{0414E9EE-6C38-4DA3-A66D-A7AE5B85613C}"/>
              </a:ext>
            </a:extLst>
          </p:cNvPr>
          <p:cNvSpPr>
            <a:spLocks xmlns:a="http://schemas.openxmlformats.org/drawingml/2006/main" noGrp="1"/>
          </p:cNvSpPr>
          <p:nvPr/>
        </p:nvSpPr>
        <p:spPr>
          <a:xfrm xmlns:a="http://schemas.openxmlformats.org/drawingml/2006/main">
            <a:off x="533400" y="64960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defRPr sz="675" b="0">
                <a:solidFill>
                  <a:srgbClr val="5E687B"/>
                </a:solidFill>
                <a:latin typeface="Arial"/>
                <a:ea typeface="Arial"/>
                <a:cs typeface="Arial"/>
              </a:defRPr>
            </a:pPr>
            <a:r>
              <a:rPr sz="675" b="0">
                <a:solidFill>
                  <a:srgbClr val="5E687B"/>
                </a:solidFill>
                <a:latin typeface="Arial"/>
                <a:ea typeface="Arial"/>
                <a:cs typeface="Arial"/>
              </a:rPr>
              <a:t>Knowledge base: 26 chunks across 5 Markdown files</a:t>
            </a:r>
          </a:p>
        </p:txBody>
      </p:sp>
    </p:spTree>
    <p:extLst>
      <p:ext uri="{BB962C8B-B14F-4D97-AF65-F5344CB8AC3E}">
        <p14:creationId xmlns:p14="http://schemas.microsoft.com/office/powerpoint/2010/main" val="13791875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18E6B25-C5DB-4F9F-ADEB-B8AC2056A99C}"/>
              </a:ext>
            </a:extLst>
          </p:cNvPr>
          <p:cNvSpPr>
            <a:spLocks xmlns:a="http://schemas.openxmlformats.org/drawingml/2006/main" noGrp="1"/>
          </p:cNvSpPr>
          <p:nvPr/>
        </p:nvSpPr>
        <p:spPr>
          <a:xfrm xmlns:a="http://schemas.openxmlformats.org/drawingml/2006/main">
            <a:off x="5334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1">
                <a:solidFill>
                  <a:srgbClr val="3561DC"/>
                </a:solidFill>
                <a:latin typeface="Arial"/>
                <a:ea typeface="Arial"/>
                <a:cs typeface="Arial"/>
              </a:defRPr>
            </a:pPr>
            <a:r>
              <a:rPr sz="900" b="1">
                <a:solidFill>
                  <a:srgbClr val="3561DC"/>
                </a:solidFill>
                <a:latin typeface="Arial"/>
                <a:ea typeface="Arial"/>
                <a:cs typeface="Arial"/>
              </a:rPr>
              <a:t>RELIABILITY</a:t>
            </a:r>
          </a:p>
        </p:txBody>
      </p:sp>
      <p:sp>
        <p:nvSpPr>
          <p:cNvPr id="2" name="">
            <a:extLst xmlns:a="http://schemas.openxmlformats.org/drawingml/2006/main">
              <a:ext uri="{FF2B5EF4-FFF2-40B4-BE49-F238E27FC236}">
                <a16:creationId xmlns:a16="http://schemas.microsoft.com/office/drawing/2014/main" id="{8C2E3130-0748-4104-826E-166D4566B706}"/>
              </a:ext>
            </a:extLst>
          </p:cNvPr>
          <p:cNvSpPr>
            <a:spLocks xmlns:a="http://schemas.openxmlformats.org/drawingml/2006/main" noGrp="1"/>
          </p:cNvSpPr>
          <p:nvPr/>
        </p:nvSpPr>
        <p:spPr>
          <a:xfrm xmlns:a="http://schemas.openxmlformats.org/drawingml/2006/main">
            <a:off x="533400" y="5334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1827"/>
                </a:solidFill>
                <a:latin typeface="Arial"/>
                <a:ea typeface="Arial"/>
                <a:cs typeface="Arial"/>
              </a:defRPr>
            </a:pPr>
            <a:r>
              <a:rPr sz="2700" b="1">
                <a:solidFill>
                  <a:srgbClr val="101827"/>
                </a:solidFill>
                <a:latin typeface="Arial"/>
                <a:ea typeface="Arial"/>
                <a:cs typeface="Arial"/>
              </a:rPr>
              <a:t>Grounding needed two defenses—and both had limits</a:t>
            </a:r>
          </a:p>
        </p:txBody>
      </p:sp>
      <p:sp>
        <p:nvSpPr>
          <p:cNvPr id="3" name="">
            <a:extLst xmlns:a="http://schemas.openxmlformats.org/drawingml/2006/main">
              <a:ext uri="{FF2B5EF4-FFF2-40B4-BE49-F238E27FC236}">
                <a16:creationId xmlns:a16="http://schemas.microsoft.com/office/drawing/2014/main" id="{23D714EA-F402-4D27-A7F8-5CDF346D2FFC}"/>
              </a:ext>
            </a:extLst>
          </p:cNvPr>
          <p:cNvSpPr>
            <a:spLocks xmlns:a="http://schemas.openxmlformats.org/drawingml/2006/main" noGrp="1"/>
          </p:cNvSpPr>
          <p:nvPr/>
        </p:nvSpPr>
        <p:spPr>
          <a:xfrm xmlns:a="http://schemas.openxmlformats.org/drawingml/2006/main">
            <a:off x="11258550" y="3429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E687B"/>
                </a:solidFill>
                <a:latin typeface="Arial"/>
                <a:ea typeface="Arial"/>
                <a:cs typeface="Arial"/>
              </a:defRPr>
            </a:pPr>
            <a:r>
              <a:rPr sz="900" b="0">
                <a:solidFill>
                  <a:srgbClr val="5E687B"/>
                </a:solidFill>
                <a:latin typeface="Arial"/>
                <a:ea typeface="Arial"/>
                <a:cs typeface="Arial"/>
              </a:rPr>
              <a:t>05</a:t>
            </a:r>
          </a:p>
        </p:txBody>
      </p:sp>
      <p:cxnSp>
        <p:nvCxnSpPr>
          <p:cNvPr id="28"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C9D0DC"/>
            </a:solidFill>
            <a:prstDash val="solid"/>
          </a:ln>
        </p:spPr>
      </p:cxnSp>
      <p:sp>
        <p:nvSpPr>
          <p:cNvPr id="5" name="">
            <a:extLst xmlns:a="http://schemas.openxmlformats.org/drawingml/2006/main">
              <a:ext uri="{FF2B5EF4-FFF2-40B4-BE49-F238E27FC236}">
                <a16:creationId xmlns:a16="http://schemas.microsoft.com/office/drawing/2014/main" id="{C58C8B4B-3FCC-4402-9B99-F46699F94B96}"/>
              </a:ext>
            </a:extLst>
          </p:cNvPr>
          <p:cNvSpPr>
            <a:spLocks xmlns:a="http://schemas.openxmlformats.org/drawingml/2006/main" noGrp="1"/>
          </p:cNvSpPr>
          <p:nvPr/>
        </p:nvSpPr>
        <p:spPr>
          <a:xfrm xmlns:a="http://schemas.openxmlformats.org/drawingml/2006/main">
            <a:off x="552450" y="1619250"/>
            <a:ext cx="5048250" cy="2381250"/>
          </a:xfrm>
          <a:prstGeom xmlns:a="http://schemas.openxmlformats.org/drawingml/2006/main" prst="roundRect">
            <a:avLst>
              <a:gd name="adj" fmla="val 4800"/>
            </a:avLst>
          </a:prstGeom>
          <a:solidFill xmlns:a="http://schemas.openxmlformats.org/drawingml/2006/main">
            <a:srgbClr val="E6ECFF"/>
          </a:solidFill>
          <a:ln xmlns:a="http://schemas.openxmlformats.org/drawingml/2006/main" w="9525">
            <a:solidFill>
              <a:srgbClr val="6D8DF7"/>
            </a:solidFill>
            <a:prstDash val="solid"/>
          </a:ln>
        </p:spPr>
      </p:sp>
      <p:sp>
        <p:nvSpPr>
          <p:cNvPr id="6" name="">
            <a:extLst xmlns:a="http://schemas.openxmlformats.org/drawingml/2006/main">
              <a:ext uri="{FF2B5EF4-FFF2-40B4-BE49-F238E27FC236}">
                <a16:creationId xmlns:a16="http://schemas.microsoft.com/office/drawing/2014/main" id="{F0F53AB0-2150-44AD-BB51-C201F017B470}"/>
              </a:ext>
            </a:extLst>
          </p:cNvPr>
          <p:cNvSpPr>
            <a:spLocks xmlns:a="http://schemas.openxmlformats.org/drawingml/2006/main" noGrp="1"/>
          </p:cNvSpPr>
          <p:nvPr/>
        </p:nvSpPr>
        <p:spPr>
          <a:xfrm xmlns:a="http://schemas.openxmlformats.org/drawingml/2006/main">
            <a:off x="819150" y="1847850"/>
            <a:ext cx="914400" cy="323850"/>
          </a:xfrm>
          <a:prstGeom xmlns:a="http://schemas.openxmlformats.org/drawingml/2006/main" prst="roundRect">
            <a:avLst>
              <a:gd name="adj" fmla="val 23529"/>
            </a:avLst>
          </a:prstGeom>
          <a:solidFill xmlns:a="http://schemas.openxmlformats.org/drawingml/2006/main">
            <a:srgbClr val="E6ECFF"/>
          </a:solidFill>
          <a:ln xmlns:a="http://schemas.openxmlformats.org/drawingml/2006/main" w="0">
            <a:solidFill>
              <a:srgbClr val="E6ECFF"/>
            </a:solidFill>
            <a:prstDash val="solid"/>
          </a:ln>
        </p:spPr>
      </p:sp>
      <p:sp>
        <p:nvSpPr>
          <p:cNvPr id="7" name="">
            <a:extLst xmlns:a="http://schemas.openxmlformats.org/drawingml/2006/main">
              <a:ext uri="{FF2B5EF4-FFF2-40B4-BE49-F238E27FC236}">
                <a16:creationId xmlns:a16="http://schemas.microsoft.com/office/drawing/2014/main" id="{FE19BF97-E6A8-42FA-BF82-FC3033486AEF}"/>
              </a:ext>
            </a:extLst>
          </p:cNvPr>
          <p:cNvSpPr>
            <a:spLocks xmlns:a="http://schemas.openxmlformats.org/drawingml/2006/main" noGrp="1"/>
          </p:cNvSpPr>
          <p:nvPr/>
        </p:nvSpPr>
        <p:spPr>
          <a:xfrm xmlns:a="http://schemas.openxmlformats.org/drawingml/2006/main">
            <a:off x="933450" y="1914525"/>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900" b="1">
                <a:solidFill>
                  <a:srgbClr val="3561DC"/>
                </a:solidFill>
                <a:latin typeface="Arial"/>
                <a:ea typeface="Arial"/>
                <a:cs typeface="Arial"/>
              </a:defRPr>
            </a:pPr>
            <a:r>
              <a:rPr sz="900" b="1">
                <a:solidFill>
                  <a:srgbClr val="3561DC"/>
                </a:solidFill>
                <a:latin typeface="Arial"/>
                <a:ea typeface="Arial"/>
                <a:cs typeface="Arial"/>
              </a:rPr>
              <a:t>LAYER 1</a:t>
            </a:r>
          </a:p>
        </p:txBody>
      </p:sp>
      <p:sp>
        <p:nvSpPr>
          <p:cNvPr id="8" name="">
            <a:extLst xmlns:a="http://schemas.openxmlformats.org/drawingml/2006/main">
              <a:ext uri="{FF2B5EF4-FFF2-40B4-BE49-F238E27FC236}">
                <a16:creationId xmlns:a16="http://schemas.microsoft.com/office/drawing/2014/main" id="{08B3AB75-9128-443B-91E7-96381AC6AF2C}"/>
              </a:ext>
            </a:extLst>
          </p:cNvPr>
          <p:cNvSpPr>
            <a:spLocks xmlns:a="http://schemas.openxmlformats.org/drawingml/2006/main" noGrp="1"/>
          </p:cNvSpPr>
          <p:nvPr/>
        </p:nvSpPr>
        <p:spPr>
          <a:xfrm xmlns:a="http://schemas.openxmlformats.org/drawingml/2006/main">
            <a:off x="819150" y="236220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2100" b="1">
                <a:solidFill>
                  <a:srgbClr val="101827"/>
                </a:solidFill>
                <a:latin typeface="Arial"/>
                <a:ea typeface="Arial"/>
                <a:cs typeface="Arial"/>
              </a:defRPr>
            </a:pPr>
            <a:r>
              <a:rPr sz="2100" b="1">
                <a:solidFill>
                  <a:srgbClr val="101827"/>
                </a:solidFill>
                <a:latin typeface="Arial"/>
                <a:ea typeface="Arial"/>
                <a:cs typeface="Arial"/>
              </a:rPr>
              <a:t>Similarity threshold</a:t>
            </a:r>
          </a:p>
        </p:txBody>
      </p:sp>
      <p:sp>
        <p:nvSpPr>
          <p:cNvPr id="9" name="">
            <a:extLst xmlns:a="http://schemas.openxmlformats.org/drawingml/2006/main">
              <a:ext uri="{FF2B5EF4-FFF2-40B4-BE49-F238E27FC236}">
                <a16:creationId xmlns:a16="http://schemas.microsoft.com/office/drawing/2014/main" id="{E6B9C50C-A419-4046-8C15-79DFBDE81F15}"/>
              </a:ext>
            </a:extLst>
          </p:cNvPr>
          <p:cNvSpPr>
            <a:spLocks xmlns:a="http://schemas.openxmlformats.org/drawingml/2006/main" noGrp="1"/>
          </p:cNvSpPr>
          <p:nvPr/>
        </p:nvSpPr>
        <p:spPr>
          <a:xfrm xmlns:a="http://schemas.openxmlformats.org/drawingml/2006/main">
            <a:off x="819150" y="2914650"/>
            <a:ext cx="4191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E687B"/>
                </a:solidFill>
                <a:latin typeface="Arial"/>
                <a:ea typeface="Arial"/>
                <a:cs typeface="Arial"/>
              </a:defRPr>
            </a:pPr>
            <a:r>
              <a:rPr sz="1350" b="0">
                <a:solidFill>
                  <a:srgbClr val="5E687B"/>
                </a:solidFill>
                <a:latin typeface="Arial"/>
                <a:ea typeface="Arial"/>
                <a:cs typeface="Arial"/>
              </a:rPr>
              <a:t>Low-score questions return a fixed fallback before the chat model is called.</a:t>
            </a:r>
          </a:p>
        </p:txBody>
      </p:sp>
      <p:sp>
        <p:nvSpPr>
          <p:cNvPr id="10" name="">
            <a:extLst xmlns:a="http://schemas.openxmlformats.org/drawingml/2006/main">
              <a:ext uri="{FF2B5EF4-FFF2-40B4-BE49-F238E27FC236}">
                <a16:creationId xmlns:a16="http://schemas.microsoft.com/office/drawing/2014/main" id="{621B293E-4DA8-4D78-9136-1E17EE7B2D4A}"/>
              </a:ext>
            </a:extLst>
          </p:cNvPr>
          <p:cNvSpPr>
            <a:spLocks xmlns:a="http://schemas.openxmlformats.org/drawingml/2006/main" noGrp="1"/>
          </p:cNvSpPr>
          <p:nvPr/>
        </p:nvSpPr>
        <p:spPr>
          <a:xfrm xmlns:a="http://schemas.openxmlformats.org/drawingml/2006/main">
            <a:off x="6134100" y="1619250"/>
            <a:ext cx="5505450" cy="2381250"/>
          </a:xfrm>
          <a:prstGeom xmlns:a="http://schemas.openxmlformats.org/drawingml/2006/main" prst="roundRect">
            <a:avLst>
              <a:gd name="adj" fmla="val 4800"/>
            </a:avLst>
          </a:prstGeom>
          <a:solidFill xmlns:a="http://schemas.openxmlformats.org/drawingml/2006/main">
            <a:srgbClr val="DFF5EA"/>
          </a:solidFill>
          <a:ln xmlns:a="http://schemas.openxmlformats.org/drawingml/2006/main" w="9525">
            <a:solidFill>
              <a:srgbClr val="1F9D65"/>
            </a:solidFill>
            <a:prstDash val="solid"/>
          </a:ln>
        </p:spPr>
      </p:sp>
      <p:sp>
        <p:nvSpPr>
          <p:cNvPr id="11" name="">
            <a:extLst xmlns:a="http://schemas.openxmlformats.org/drawingml/2006/main">
              <a:ext uri="{FF2B5EF4-FFF2-40B4-BE49-F238E27FC236}">
                <a16:creationId xmlns:a16="http://schemas.microsoft.com/office/drawing/2014/main" id="{97CA621F-23CA-4518-B9FA-D73B5ADC1711}"/>
              </a:ext>
            </a:extLst>
          </p:cNvPr>
          <p:cNvSpPr>
            <a:spLocks xmlns:a="http://schemas.openxmlformats.org/drawingml/2006/main" noGrp="1"/>
          </p:cNvSpPr>
          <p:nvPr/>
        </p:nvSpPr>
        <p:spPr>
          <a:xfrm xmlns:a="http://schemas.openxmlformats.org/drawingml/2006/main">
            <a:off x="6400800" y="1847850"/>
            <a:ext cx="914400" cy="323850"/>
          </a:xfrm>
          <a:prstGeom xmlns:a="http://schemas.openxmlformats.org/drawingml/2006/main" prst="roundRect">
            <a:avLst>
              <a:gd name="adj" fmla="val 23529"/>
            </a:avLst>
          </a:prstGeom>
          <a:solidFill xmlns:a="http://schemas.openxmlformats.org/drawingml/2006/main">
            <a:srgbClr val="DFF5EA"/>
          </a:solidFill>
          <a:ln xmlns:a="http://schemas.openxmlformats.org/drawingml/2006/main" w="0">
            <a:solidFill>
              <a:srgbClr val="DFF5EA"/>
            </a:solidFill>
            <a:prstDash val="solid"/>
          </a:ln>
        </p:spPr>
      </p:sp>
      <p:sp>
        <p:nvSpPr>
          <p:cNvPr id="12" name="">
            <a:extLst xmlns:a="http://schemas.openxmlformats.org/drawingml/2006/main">
              <a:ext uri="{FF2B5EF4-FFF2-40B4-BE49-F238E27FC236}">
                <a16:creationId xmlns:a16="http://schemas.microsoft.com/office/drawing/2014/main" id="{25D72CD5-28A3-4507-A05F-78666C07C908}"/>
              </a:ext>
            </a:extLst>
          </p:cNvPr>
          <p:cNvSpPr>
            <a:spLocks xmlns:a="http://schemas.openxmlformats.org/drawingml/2006/main" noGrp="1"/>
          </p:cNvSpPr>
          <p:nvPr/>
        </p:nvSpPr>
        <p:spPr>
          <a:xfrm xmlns:a="http://schemas.openxmlformats.org/drawingml/2006/main">
            <a:off x="6515100" y="1914525"/>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900" b="1">
                <a:solidFill>
                  <a:srgbClr val="1F9D65"/>
                </a:solidFill>
                <a:latin typeface="Arial"/>
                <a:ea typeface="Arial"/>
                <a:cs typeface="Arial"/>
              </a:defRPr>
            </a:pPr>
            <a:r>
              <a:rPr sz="900" b="1">
                <a:solidFill>
                  <a:srgbClr val="1F9D65"/>
                </a:solidFill>
                <a:latin typeface="Arial"/>
                <a:ea typeface="Arial"/>
                <a:cs typeface="Arial"/>
              </a:rPr>
              <a:t>LAYER 2</a:t>
            </a:r>
          </a:p>
        </p:txBody>
      </p:sp>
      <p:sp>
        <p:nvSpPr>
          <p:cNvPr id="13" name="">
            <a:extLst xmlns:a="http://schemas.openxmlformats.org/drawingml/2006/main">
              <a:ext uri="{FF2B5EF4-FFF2-40B4-BE49-F238E27FC236}">
                <a16:creationId xmlns:a16="http://schemas.microsoft.com/office/drawing/2014/main" id="{71159929-A3FA-4C38-AE97-87A8A3D351AB}"/>
              </a:ext>
            </a:extLst>
          </p:cNvPr>
          <p:cNvSpPr>
            <a:spLocks xmlns:a="http://schemas.openxmlformats.org/drawingml/2006/main" noGrp="1"/>
          </p:cNvSpPr>
          <p:nvPr/>
        </p:nvSpPr>
        <p:spPr>
          <a:xfrm xmlns:a="http://schemas.openxmlformats.org/drawingml/2006/main">
            <a:off x="6400800" y="236220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2100" b="1">
                <a:solidFill>
                  <a:srgbClr val="101827"/>
                </a:solidFill>
                <a:latin typeface="Arial"/>
                <a:ea typeface="Arial"/>
                <a:cs typeface="Arial"/>
              </a:defRPr>
            </a:pPr>
            <a:r>
              <a:rPr sz="2100" b="1">
                <a:solidFill>
                  <a:srgbClr val="101827"/>
                </a:solidFill>
                <a:latin typeface="Arial"/>
                <a:ea typeface="Arial"/>
                <a:cs typeface="Arial"/>
              </a:rPr>
              <a:t>Decision-first system prompt</a:t>
            </a:r>
          </a:p>
        </p:txBody>
      </p:sp>
      <p:sp>
        <p:nvSpPr>
          <p:cNvPr id="14" name="">
            <a:extLst xmlns:a="http://schemas.openxmlformats.org/drawingml/2006/main">
              <a:ext uri="{FF2B5EF4-FFF2-40B4-BE49-F238E27FC236}">
                <a16:creationId xmlns:a16="http://schemas.microsoft.com/office/drawing/2014/main" id="{D9354187-15EC-45D2-AEAF-6D6B6865436D}"/>
              </a:ext>
            </a:extLst>
          </p:cNvPr>
          <p:cNvSpPr>
            <a:spLocks xmlns:a="http://schemas.openxmlformats.org/drawingml/2006/main" noGrp="1"/>
          </p:cNvSpPr>
          <p:nvPr/>
        </p:nvSpPr>
        <p:spPr>
          <a:xfrm xmlns:a="http://schemas.openxmlformats.org/drawingml/2006/main">
            <a:off x="6400800" y="2914650"/>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E687B"/>
                </a:solidFill>
                <a:latin typeface="Arial"/>
                <a:ea typeface="Arial"/>
                <a:cs typeface="Arial"/>
              </a:defRPr>
            </a:pPr>
            <a:r>
              <a:rPr sz="1350" b="0">
                <a:solidFill>
                  <a:srgbClr val="5E687B"/>
                </a:solidFill>
                <a:latin typeface="Arial"/>
                <a:ea typeface="Arial"/>
                <a:cs typeface="Arial"/>
              </a:rPr>
              <a:t>The model first checks whether the context explicitly answers the question; related context is not enough.</a:t>
            </a:r>
          </a:p>
        </p:txBody>
      </p:sp>
      <p:sp>
        <p:nvSpPr>
          <p:cNvPr id="15" name="">
            <a:extLst xmlns:a="http://schemas.openxmlformats.org/drawingml/2006/main">
              <a:ext uri="{FF2B5EF4-FFF2-40B4-BE49-F238E27FC236}">
                <a16:creationId xmlns:a16="http://schemas.microsoft.com/office/drawing/2014/main" id="{7A76C573-3B7E-4319-957E-F89E506BAE37}"/>
              </a:ext>
            </a:extLst>
          </p:cNvPr>
          <p:cNvSpPr>
            <a:spLocks xmlns:a="http://schemas.openxmlformats.org/drawingml/2006/main" noGrp="1"/>
          </p:cNvSpPr>
          <p:nvPr/>
        </p:nvSpPr>
        <p:spPr>
          <a:xfrm xmlns:a="http://schemas.openxmlformats.org/drawingml/2006/main">
            <a:off x="552450" y="44577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01827"/>
                </a:solidFill>
                <a:latin typeface="Arial"/>
                <a:ea typeface="Arial"/>
                <a:cs typeface="Arial"/>
              </a:defRPr>
            </a:pPr>
            <a:r>
              <a:rPr sz="1350" b="1">
                <a:solidFill>
                  <a:srgbClr val="101827"/>
                </a:solidFill>
                <a:latin typeface="Arial"/>
                <a:ea typeface="Arial"/>
                <a:cs typeface="Arial"/>
              </a:rPr>
              <a:t>Measured score gap</a:t>
            </a:r>
          </a:p>
        </p:txBody>
      </p:sp>
      <p:sp>
        <p:nvSpPr>
          <p:cNvPr id="16" name="">
            <a:extLst xmlns:a="http://schemas.openxmlformats.org/drawingml/2006/main">
              <a:ext uri="{FF2B5EF4-FFF2-40B4-BE49-F238E27FC236}">
                <a16:creationId xmlns:a16="http://schemas.microsoft.com/office/drawing/2014/main" id="{B9355345-503F-4192-BC62-00C4E8FE3D0B}"/>
              </a:ext>
            </a:extLst>
          </p:cNvPr>
          <p:cNvSpPr>
            <a:spLocks xmlns:a="http://schemas.openxmlformats.org/drawingml/2006/main" noGrp="1"/>
          </p:cNvSpPr>
          <p:nvPr/>
        </p:nvSpPr>
        <p:spPr>
          <a:xfrm xmlns:a="http://schemas.openxmlformats.org/drawingml/2006/main">
            <a:off x="552450" y="4914900"/>
            <a:ext cx="10001250" cy="247650"/>
          </a:xfrm>
          <a:prstGeom xmlns:a="http://schemas.openxmlformats.org/drawingml/2006/main" prst="rect">
            <a:avLst/>
          </a:prstGeom>
          <a:solidFill xmlns:a="http://schemas.openxmlformats.org/drawingml/2006/main">
            <a:srgbClr val="F3F5F8"/>
          </a:solidFill>
          <a:ln xmlns:a="http://schemas.openxmlformats.org/drawingml/2006/main" w="0">
            <a:solidFill>
              <a:srgbClr val="F3F5F8"/>
            </a:solidFill>
            <a:prstDash val="solid"/>
          </a:ln>
        </p:spPr>
      </p:sp>
      <p:sp>
        <p:nvSpPr>
          <p:cNvPr id="17" name="">
            <a:extLst xmlns:a="http://schemas.openxmlformats.org/drawingml/2006/main">
              <a:ext uri="{FF2B5EF4-FFF2-40B4-BE49-F238E27FC236}">
                <a16:creationId xmlns:a16="http://schemas.microsoft.com/office/drawing/2014/main" id="{248476A6-13E8-4E19-8E53-D9AF7DF174C3}"/>
              </a:ext>
            </a:extLst>
          </p:cNvPr>
          <p:cNvSpPr>
            <a:spLocks xmlns:a="http://schemas.openxmlformats.org/drawingml/2006/main" noGrp="1"/>
          </p:cNvSpPr>
          <p:nvPr/>
        </p:nvSpPr>
        <p:spPr>
          <a:xfrm xmlns:a="http://schemas.openxmlformats.org/drawingml/2006/main">
            <a:off x="552450" y="4914900"/>
            <a:ext cx="3219450" cy="247650"/>
          </a:xfrm>
          <a:prstGeom xmlns:a="http://schemas.openxmlformats.org/drawingml/2006/main" prst="rect">
            <a:avLst/>
          </a:prstGeom>
          <a:solidFill xmlns:a="http://schemas.openxmlformats.org/drawingml/2006/main">
            <a:srgbClr val="FCE7E6"/>
          </a:solidFill>
          <a:ln xmlns:a="http://schemas.openxmlformats.org/drawingml/2006/main" w="0">
            <a:solidFill>
              <a:srgbClr val="FCE7E6"/>
            </a:solidFill>
            <a:prstDash val="solid"/>
          </a:ln>
        </p:spPr>
      </p:sp>
      <p:sp>
        <p:nvSpPr>
          <p:cNvPr id="18" name="">
            <a:extLst xmlns:a="http://schemas.openxmlformats.org/drawingml/2006/main">
              <a:ext uri="{FF2B5EF4-FFF2-40B4-BE49-F238E27FC236}">
                <a16:creationId xmlns:a16="http://schemas.microsoft.com/office/drawing/2014/main" id="{A7314FA2-3CB8-445F-9513-3134E8E0F8E5}"/>
              </a:ext>
            </a:extLst>
          </p:cNvPr>
          <p:cNvSpPr>
            <a:spLocks xmlns:a="http://schemas.openxmlformats.org/drawingml/2006/main" noGrp="1"/>
          </p:cNvSpPr>
          <p:nvPr/>
        </p:nvSpPr>
        <p:spPr>
          <a:xfrm xmlns:a="http://schemas.openxmlformats.org/drawingml/2006/main">
            <a:off x="3771900" y="4914900"/>
            <a:ext cx="2019300" cy="247650"/>
          </a:xfrm>
          <a:prstGeom xmlns:a="http://schemas.openxmlformats.org/drawingml/2006/main" prst="rect">
            <a:avLst/>
          </a:prstGeom>
          <a:solidFill xmlns:a="http://schemas.openxmlformats.org/drawingml/2006/main">
            <a:srgbClr val="FFF2D4"/>
          </a:solidFill>
          <a:ln xmlns:a="http://schemas.openxmlformats.org/drawingml/2006/main" w="0">
            <a:solidFill>
              <a:srgbClr val="FFF2D4"/>
            </a:solidFill>
            <a:prstDash val="solid"/>
          </a:ln>
        </p:spPr>
      </p:sp>
      <p:sp>
        <p:nvSpPr>
          <p:cNvPr id="19" name="">
            <a:extLst xmlns:a="http://schemas.openxmlformats.org/drawingml/2006/main">
              <a:ext uri="{FF2B5EF4-FFF2-40B4-BE49-F238E27FC236}">
                <a16:creationId xmlns:a16="http://schemas.microsoft.com/office/drawing/2014/main" id="{8303D1AB-CA5E-417A-BC51-9CD60C1A6841}"/>
              </a:ext>
            </a:extLst>
          </p:cNvPr>
          <p:cNvSpPr>
            <a:spLocks xmlns:a="http://schemas.openxmlformats.org/drawingml/2006/main" noGrp="1"/>
          </p:cNvSpPr>
          <p:nvPr/>
        </p:nvSpPr>
        <p:spPr>
          <a:xfrm xmlns:a="http://schemas.openxmlformats.org/drawingml/2006/main">
            <a:off x="5791200" y="4914900"/>
            <a:ext cx="4762500" cy="247650"/>
          </a:xfrm>
          <a:prstGeom xmlns:a="http://schemas.openxmlformats.org/drawingml/2006/main" prst="rect">
            <a:avLst/>
          </a:prstGeom>
          <a:solidFill xmlns:a="http://schemas.openxmlformats.org/drawingml/2006/main">
            <a:srgbClr val="DFF5EA"/>
          </a:solidFill>
          <a:ln xmlns:a="http://schemas.openxmlformats.org/drawingml/2006/main" w="0">
            <a:solidFill>
              <a:srgbClr val="DFF5EA"/>
            </a:solidFill>
            <a:prstDash val="solid"/>
          </a:ln>
        </p:spPr>
      </p:sp>
      <p:sp>
        <p:nvSpPr>
          <p:cNvPr id="20" name="">
            <a:extLst xmlns:a="http://schemas.openxmlformats.org/drawingml/2006/main">
              <a:ext uri="{FF2B5EF4-FFF2-40B4-BE49-F238E27FC236}">
                <a16:creationId xmlns:a16="http://schemas.microsoft.com/office/drawing/2014/main" id="{FDD5950E-CD11-4D21-AFAF-F7C0F6C814C4}"/>
              </a:ext>
            </a:extLst>
          </p:cNvPr>
          <p:cNvSpPr>
            <a:spLocks xmlns:a="http://schemas.openxmlformats.org/drawingml/2006/main" noGrp="1"/>
          </p:cNvSpPr>
          <p:nvPr/>
        </p:nvSpPr>
        <p:spPr>
          <a:xfrm xmlns:a="http://schemas.openxmlformats.org/drawingml/2006/main">
            <a:off x="552450" y="52768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D9534F"/>
                </a:solidFill>
                <a:latin typeface="Arial"/>
                <a:ea typeface="Arial"/>
                <a:cs typeface="Arial"/>
              </a:defRPr>
            </a:pPr>
            <a:r>
              <a:rPr sz="1050" b="1">
                <a:solidFill>
                  <a:srgbClr val="D9534F"/>
                </a:solidFill>
                <a:latin typeface="Arial"/>
                <a:ea typeface="Arial"/>
                <a:cs typeface="Arial"/>
              </a:rPr>
              <a:t>0.402 off-domain</a:t>
            </a:r>
          </a:p>
        </p:txBody>
      </p:sp>
      <p:sp>
        <p:nvSpPr>
          <p:cNvPr id="21" name="">
            <a:extLst xmlns:a="http://schemas.openxmlformats.org/drawingml/2006/main">
              <a:ext uri="{FF2B5EF4-FFF2-40B4-BE49-F238E27FC236}">
                <a16:creationId xmlns:a16="http://schemas.microsoft.com/office/drawing/2014/main" id="{A9C84BAC-A3F4-45D9-9C31-DE15865F22FC}"/>
              </a:ext>
            </a:extLst>
          </p:cNvPr>
          <p:cNvSpPr>
            <a:spLocks xmlns:a="http://schemas.openxmlformats.org/drawingml/2006/main" noGrp="1"/>
          </p:cNvSpPr>
          <p:nvPr/>
        </p:nvSpPr>
        <p:spPr>
          <a:xfrm xmlns:a="http://schemas.openxmlformats.org/drawingml/2006/main">
            <a:off x="4076700" y="52768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A26A00"/>
                </a:solidFill>
                <a:latin typeface="Arial"/>
                <a:ea typeface="Arial"/>
                <a:cs typeface="Arial"/>
              </a:defRPr>
            </a:pPr>
            <a:r>
              <a:rPr sz="1050" b="1">
                <a:solidFill>
                  <a:srgbClr val="A26A00"/>
                </a:solidFill>
                <a:latin typeface="Arial"/>
                <a:ea typeface="Arial"/>
                <a:cs typeface="Arial"/>
              </a:rPr>
              <a:t>0.50 final threshold</a:t>
            </a:r>
          </a:p>
        </p:txBody>
      </p:sp>
      <p:sp>
        <p:nvSpPr>
          <p:cNvPr id="22" name="">
            <a:extLst xmlns:a="http://schemas.openxmlformats.org/drawingml/2006/main">
              <a:ext uri="{FF2B5EF4-FFF2-40B4-BE49-F238E27FC236}">
                <a16:creationId xmlns:a16="http://schemas.microsoft.com/office/drawing/2014/main" id="{41BADCA3-A79C-4A4F-B873-FF76DFD2D721}"/>
              </a:ext>
            </a:extLst>
          </p:cNvPr>
          <p:cNvSpPr>
            <a:spLocks xmlns:a="http://schemas.openxmlformats.org/drawingml/2006/main" noGrp="1"/>
          </p:cNvSpPr>
          <p:nvPr/>
        </p:nvSpPr>
        <p:spPr>
          <a:xfrm xmlns:a="http://schemas.openxmlformats.org/drawingml/2006/main">
            <a:off x="8591550" y="5276850"/>
            <a:ext cx="1962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1">
                <a:solidFill>
                  <a:srgbClr val="1F9D65"/>
                </a:solidFill>
                <a:latin typeface="Arial"/>
                <a:ea typeface="Arial"/>
                <a:cs typeface="Arial"/>
              </a:defRPr>
            </a:pPr>
            <a:r>
              <a:rPr sz="1050" b="1">
                <a:solidFill>
                  <a:srgbClr val="1F9D65"/>
                </a:solidFill>
                <a:latin typeface="Arial"/>
                <a:ea typeface="Arial"/>
                <a:cs typeface="Arial"/>
              </a:rPr>
              <a:t>0.556 answerable</a:t>
            </a:r>
          </a:p>
        </p:txBody>
      </p:sp>
      <p:sp>
        <p:nvSpPr>
          <p:cNvPr id="23" name="">
            <a:extLst xmlns:a="http://schemas.openxmlformats.org/drawingml/2006/main">
              <a:ext uri="{FF2B5EF4-FFF2-40B4-BE49-F238E27FC236}">
                <a16:creationId xmlns:a16="http://schemas.microsoft.com/office/drawing/2014/main" id="{14D6999B-E365-4127-9825-74D7F143E8E0}"/>
              </a:ext>
            </a:extLst>
          </p:cNvPr>
          <p:cNvSpPr>
            <a:spLocks xmlns:a="http://schemas.openxmlformats.org/drawingml/2006/main" noGrp="1"/>
          </p:cNvSpPr>
          <p:nvPr/>
        </p:nvSpPr>
        <p:spPr>
          <a:xfrm xmlns:a="http://schemas.openxmlformats.org/drawingml/2006/main">
            <a:off x="1466850" y="5848350"/>
            <a:ext cx="925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defRPr sz="1575" b="1">
                <a:solidFill>
                  <a:srgbClr val="101827"/>
                </a:solidFill>
                <a:latin typeface="Arial"/>
                <a:ea typeface="Arial"/>
                <a:cs typeface="Arial"/>
              </a:defRPr>
            </a:pPr>
            <a:r>
              <a:rPr sz="1575" b="1">
                <a:solidFill>
                  <a:srgbClr val="101827"/>
                </a:solidFill>
                <a:latin typeface="Arial"/>
                <a:ea typeface="Arial"/>
                <a:cs typeface="Arial"/>
              </a:rPr>
              <a:t>A high score still does not prove that the retrieved passage contains the answer.</a:t>
            </a:r>
          </a:p>
        </p:txBody>
      </p:sp>
      <p:sp>
        <p:nvSpPr>
          <p:cNvPr id="24" name="">
            <a:extLst xmlns:a="http://schemas.openxmlformats.org/drawingml/2006/main">
              <a:ext uri="{FF2B5EF4-FFF2-40B4-BE49-F238E27FC236}">
                <a16:creationId xmlns:a16="http://schemas.microsoft.com/office/drawing/2014/main" id="{64EB6C8C-2830-4626-842C-C5A6716A064E}"/>
              </a:ext>
            </a:extLst>
          </p:cNvPr>
          <p:cNvSpPr>
            <a:spLocks xmlns:a="http://schemas.openxmlformats.org/drawingml/2006/main" noGrp="1"/>
          </p:cNvSpPr>
          <p:nvPr/>
        </p:nvSpPr>
        <p:spPr>
          <a:xfrm xmlns:a="http://schemas.openxmlformats.org/drawingml/2006/main">
            <a:off x="533400" y="64960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defRPr sz="675" b="0">
                <a:solidFill>
                  <a:srgbClr val="5E687B"/>
                </a:solidFill>
                <a:latin typeface="Arial"/>
                <a:ea typeface="Arial"/>
                <a:cs typeface="Arial"/>
              </a:defRPr>
            </a:pPr>
            <a:r>
              <a:rPr sz="675" b="0">
                <a:solidFill>
                  <a:srgbClr val="5E687B"/>
                </a:solidFill>
                <a:latin typeface="Arial"/>
                <a:ea typeface="Arial"/>
                <a:cs typeface="Arial"/>
              </a:rPr>
              <a:t>Issues #15 and #17 · threshold recalibrated from 0.6 to 0.5</a:t>
            </a:r>
          </a:p>
        </p:txBody>
      </p:sp>
    </p:spTree>
    <p:extLst>
      <p:ext uri="{BB962C8B-B14F-4D97-AF65-F5344CB8AC3E}">
        <p14:creationId xmlns:p14="http://schemas.microsoft.com/office/powerpoint/2010/main" val="6040288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7B37A88-679D-42F1-8811-CB396D1A855A}"/>
              </a:ext>
            </a:extLst>
          </p:cNvPr>
          <p:cNvSpPr>
            <a:spLocks xmlns:a="http://schemas.openxmlformats.org/drawingml/2006/main" noGrp="1"/>
          </p:cNvSpPr>
          <p:nvPr/>
        </p:nvSpPr>
        <p:spPr>
          <a:xfrm xmlns:a="http://schemas.openxmlformats.org/drawingml/2006/main">
            <a:off x="5334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1">
                <a:solidFill>
                  <a:srgbClr val="3561DC"/>
                </a:solidFill>
                <a:latin typeface="Arial"/>
                <a:ea typeface="Arial"/>
                <a:cs typeface="Arial"/>
              </a:defRPr>
            </a:pPr>
            <a:r>
              <a:rPr sz="900" b="1">
                <a:solidFill>
                  <a:srgbClr val="3561DC"/>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3BEEA531-5D11-4C21-B05A-E4B3C3BEA296}"/>
              </a:ext>
            </a:extLst>
          </p:cNvPr>
          <p:cNvSpPr>
            <a:spLocks xmlns:a="http://schemas.openxmlformats.org/drawingml/2006/main" noGrp="1"/>
          </p:cNvSpPr>
          <p:nvPr/>
        </p:nvSpPr>
        <p:spPr>
          <a:xfrm xmlns:a="http://schemas.openxmlformats.org/drawingml/2006/main">
            <a:off x="533400" y="5334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1827"/>
                </a:solidFill>
                <a:latin typeface="Arial"/>
                <a:ea typeface="Arial"/>
                <a:cs typeface="Arial"/>
              </a:defRPr>
            </a:pPr>
            <a:r>
              <a:rPr sz="2700" b="1">
                <a:solidFill>
                  <a:srgbClr val="101827"/>
                </a:solidFill>
                <a:latin typeface="Arial"/>
                <a:ea typeface="Arial"/>
                <a:cs typeface="Arial"/>
              </a:rPr>
              <a:t>Evaluation revealed failures that a demo would hide</a:t>
            </a:r>
          </a:p>
        </p:txBody>
      </p:sp>
      <p:sp>
        <p:nvSpPr>
          <p:cNvPr id="3" name="">
            <a:extLst xmlns:a="http://schemas.openxmlformats.org/drawingml/2006/main">
              <a:ext uri="{FF2B5EF4-FFF2-40B4-BE49-F238E27FC236}">
                <a16:creationId xmlns:a16="http://schemas.microsoft.com/office/drawing/2014/main" id="{DB095766-AFC4-4E05-8AC5-50DBBE02FD40}"/>
              </a:ext>
            </a:extLst>
          </p:cNvPr>
          <p:cNvSpPr>
            <a:spLocks xmlns:a="http://schemas.openxmlformats.org/drawingml/2006/main" noGrp="1"/>
          </p:cNvSpPr>
          <p:nvPr/>
        </p:nvSpPr>
        <p:spPr>
          <a:xfrm xmlns:a="http://schemas.openxmlformats.org/drawingml/2006/main">
            <a:off x="11258550" y="3429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E687B"/>
                </a:solidFill>
                <a:latin typeface="Arial"/>
                <a:ea typeface="Arial"/>
                <a:cs typeface="Arial"/>
              </a:defRPr>
            </a:pPr>
            <a:r>
              <a:rPr sz="900" b="0">
                <a:solidFill>
                  <a:srgbClr val="5E687B"/>
                </a:solidFill>
                <a:latin typeface="Arial"/>
                <a:ea typeface="Arial"/>
                <a:cs typeface="Arial"/>
              </a:rPr>
              <a:t>06</a:t>
            </a:r>
          </a:p>
        </p:txBody>
      </p:sp>
      <p:cxnSp>
        <p:nvCxnSpPr>
          <p:cNvPr id="25"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C9D0DC"/>
            </a:solidFill>
            <a:prstDash val="solid"/>
          </a:ln>
        </p:spPr>
      </p:cxnSp>
      <p:sp>
        <p:nvSpPr>
          <p:cNvPr id="5" name="">
            <a:extLst xmlns:a="http://schemas.openxmlformats.org/drawingml/2006/main">
              <a:ext uri="{FF2B5EF4-FFF2-40B4-BE49-F238E27FC236}">
                <a16:creationId xmlns:a16="http://schemas.microsoft.com/office/drawing/2014/main" id="{C0016AF1-B4A5-4674-9FF4-D0D65E56716A}"/>
              </a:ext>
            </a:extLst>
          </p:cNvPr>
          <p:cNvSpPr>
            <a:spLocks xmlns:a="http://schemas.openxmlformats.org/drawingml/2006/main" noGrp="1"/>
          </p:cNvSpPr>
          <p:nvPr/>
        </p:nvSpPr>
        <p:spPr>
          <a:xfrm xmlns:a="http://schemas.openxmlformats.org/drawingml/2006/main">
            <a:off x="552450" y="1657350"/>
            <a:ext cx="3314700" cy="1790700"/>
          </a:xfrm>
          <a:prstGeom xmlns:a="http://schemas.openxmlformats.org/drawingml/2006/main" prst="roundRect">
            <a:avLst>
              <a:gd name="adj" fmla="val 6383"/>
            </a:avLst>
          </a:prstGeom>
          <a:solidFill xmlns:a="http://schemas.openxmlformats.org/drawingml/2006/main">
            <a:srgbClr val="E6ECFF"/>
          </a:solidFill>
          <a:ln xmlns:a="http://schemas.openxmlformats.org/drawingml/2006/main" w="9525">
            <a:solidFill>
              <a:srgbClr val="C9D0DC"/>
            </a:solidFill>
            <a:prstDash val="solid"/>
          </a:ln>
        </p:spPr>
      </p:sp>
      <p:sp>
        <p:nvSpPr>
          <p:cNvPr id="6" name="">
            <a:extLst xmlns:a="http://schemas.openxmlformats.org/drawingml/2006/main">
              <a:ext uri="{FF2B5EF4-FFF2-40B4-BE49-F238E27FC236}">
                <a16:creationId xmlns:a16="http://schemas.microsoft.com/office/drawing/2014/main" id="{AAA5AA0C-93A1-4F18-8ED6-8A8F4E23D33F}"/>
              </a:ext>
            </a:extLst>
          </p:cNvPr>
          <p:cNvSpPr>
            <a:spLocks xmlns:a="http://schemas.openxmlformats.org/drawingml/2006/main" noGrp="1"/>
          </p:cNvSpPr>
          <p:nvPr/>
        </p:nvSpPr>
        <p:spPr>
          <a:xfrm xmlns:a="http://schemas.openxmlformats.org/drawingml/2006/main">
            <a:off x="781050" y="19240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3561DC"/>
                </a:solidFill>
                <a:latin typeface="Arial"/>
                <a:ea typeface="Arial"/>
                <a:cs typeface="Arial"/>
              </a:defRPr>
            </a:pPr>
            <a:r>
              <a:rPr sz="2850" b="1">
                <a:solidFill>
                  <a:srgbClr val="3561DC"/>
                </a:solidFill>
                <a:latin typeface="Arial"/>
                <a:ea typeface="Arial"/>
                <a:cs typeface="Arial"/>
              </a:rPr>
              <a:t>8 / 10</a:t>
            </a:r>
          </a:p>
        </p:txBody>
      </p:sp>
      <p:sp>
        <p:nvSpPr>
          <p:cNvPr id="7" name="">
            <a:extLst xmlns:a="http://schemas.openxmlformats.org/drawingml/2006/main">
              <a:ext uri="{FF2B5EF4-FFF2-40B4-BE49-F238E27FC236}">
                <a16:creationId xmlns:a16="http://schemas.microsoft.com/office/drawing/2014/main" id="{4A55C38A-9190-41E9-B0A5-699AA8D82B05}"/>
              </a:ext>
            </a:extLst>
          </p:cNvPr>
          <p:cNvSpPr>
            <a:spLocks xmlns:a="http://schemas.openxmlformats.org/drawingml/2006/main" noGrp="1"/>
          </p:cNvSpPr>
          <p:nvPr/>
        </p:nvSpPr>
        <p:spPr>
          <a:xfrm xmlns:a="http://schemas.openxmlformats.org/drawingml/2006/main">
            <a:off x="781050" y="2590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87B"/>
                </a:solidFill>
                <a:latin typeface="Arial"/>
                <a:ea typeface="Arial"/>
                <a:cs typeface="Arial"/>
              </a:defRPr>
            </a:pPr>
            <a:r>
              <a:rPr sz="1275" b="0">
                <a:solidFill>
                  <a:srgbClr val="5E687B"/>
                </a:solidFill>
                <a:latin typeface="Arial"/>
                <a:ea typeface="Arial"/>
                <a:cs typeface="Arial"/>
              </a:rPr>
              <a:t>Development evaluation after model, threshold, and prompt improvements.</a:t>
            </a:r>
          </a:p>
        </p:txBody>
      </p:sp>
      <p:sp>
        <p:nvSpPr>
          <p:cNvPr id="8" name="">
            <a:extLst xmlns:a="http://schemas.openxmlformats.org/drawingml/2006/main">
              <a:ext uri="{FF2B5EF4-FFF2-40B4-BE49-F238E27FC236}">
                <a16:creationId xmlns:a16="http://schemas.microsoft.com/office/drawing/2014/main" id="{FFFF76ED-C600-4BBB-B36C-070E25EC9693}"/>
              </a:ext>
            </a:extLst>
          </p:cNvPr>
          <p:cNvSpPr>
            <a:spLocks xmlns:a="http://schemas.openxmlformats.org/drawingml/2006/main" noGrp="1"/>
          </p:cNvSpPr>
          <p:nvPr/>
        </p:nvSpPr>
        <p:spPr>
          <a:xfrm xmlns:a="http://schemas.openxmlformats.org/drawingml/2006/main">
            <a:off x="4438650" y="1657350"/>
            <a:ext cx="3314700" cy="1790700"/>
          </a:xfrm>
          <a:prstGeom xmlns:a="http://schemas.openxmlformats.org/drawingml/2006/main" prst="roundRect">
            <a:avLst>
              <a:gd name="adj" fmla="val 6383"/>
            </a:avLst>
          </a:prstGeom>
          <a:solidFill xmlns:a="http://schemas.openxmlformats.org/drawingml/2006/main">
            <a:srgbClr val="DFF5EA"/>
          </a:solidFill>
          <a:ln xmlns:a="http://schemas.openxmlformats.org/drawingml/2006/main" w="9525">
            <a:solidFill>
              <a:srgbClr val="C9D0DC"/>
            </a:solidFill>
            <a:prstDash val="solid"/>
          </a:ln>
        </p:spPr>
      </p:sp>
      <p:sp>
        <p:nvSpPr>
          <p:cNvPr id="9" name="">
            <a:extLst xmlns:a="http://schemas.openxmlformats.org/drawingml/2006/main">
              <a:ext uri="{FF2B5EF4-FFF2-40B4-BE49-F238E27FC236}">
                <a16:creationId xmlns:a16="http://schemas.microsoft.com/office/drawing/2014/main" id="{721D0579-BBBA-48EC-AB85-33123F2469A7}"/>
              </a:ext>
            </a:extLst>
          </p:cNvPr>
          <p:cNvSpPr>
            <a:spLocks xmlns:a="http://schemas.openxmlformats.org/drawingml/2006/main" noGrp="1"/>
          </p:cNvSpPr>
          <p:nvPr/>
        </p:nvSpPr>
        <p:spPr>
          <a:xfrm xmlns:a="http://schemas.openxmlformats.org/drawingml/2006/main">
            <a:off x="4667250" y="19240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F9D65"/>
                </a:solidFill>
                <a:latin typeface="Arial"/>
                <a:ea typeface="Arial"/>
                <a:cs typeface="Arial"/>
              </a:defRPr>
            </a:pPr>
            <a:r>
              <a:rPr sz="2850" b="1">
                <a:solidFill>
                  <a:srgbClr val="1F9D65"/>
                </a:solidFill>
                <a:latin typeface="Arial"/>
                <a:ea typeface="Arial"/>
                <a:cs typeface="Arial"/>
              </a:rPr>
              <a:t>7 / 10</a:t>
            </a:r>
          </a:p>
        </p:txBody>
      </p:sp>
      <p:sp>
        <p:nvSpPr>
          <p:cNvPr id="10" name="">
            <a:extLst xmlns:a="http://schemas.openxmlformats.org/drawingml/2006/main">
              <a:ext uri="{FF2B5EF4-FFF2-40B4-BE49-F238E27FC236}">
                <a16:creationId xmlns:a16="http://schemas.microsoft.com/office/drawing/2014/main" id="{B243872A-4258-4C4B-87E6-E7EB47C79960}"/>
              </a:ext>
            </a:extLst>
          </p:cNvPr>
          <p:cNvSpPr>
            <a:spLocks xmlns:a="http://schemas.openxmlformats.org/drawingml/2006/main" noGrp="1"/>
          </p:cNvSpPr>
          <p:nvPr/>
        </p:nvSpPr>
        <p:spPr>
          <a:xfrm xmlns:a="http://schemas.openxmlformats.org/drawingml/2006/main">
            <a:off x="4667250" y="2590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87B"/>
                </a:solidFill>
                <a:latin typeface="Arial"/>
                <a:ea typeface="Arial"/>
                <a:cs typeface="Arial"/>
              </a:defRPr>
            </a:pPr>
            <a:r>
              <a:rPr sz="1275" b="0">
                <a:solidFill>
                  <a:srgbClr val="5E687B"/>
                </a:solidFill>
                <a:latin typeface="Arial"/>
                <a:ea typeface="Arial"/>
                <a:cs typeface="Arial"/>
              </a:rPr>
              <a:t>Frozen blind evaluation with no tuning after the result.</a:t>
            </a:r>
          </a:p>
        </p:txBody>
      </p:sp>
      <p:sp>
        <p:nvSpPr>
          <p:cNvPr id="11" name="">
            <a:extLst xmlns:a="http://schemas.openxmlformats.org/drawingml/2006/main">
              <a:ext uri="{FF2B5EF4-FFF2-40B4-BE49-F238E27FC236}">
                <a16:creationId xmlns:a16="http://schemas.microsoft.com/office/drawing/2014/main" id="{F6A260AA-4952-4E7E-A370-3641549259E0}"/>
              </a:ext>
            </a:extLst>
          </p:cNvPr>
          <p:cNvSpPr>
            <a:spLocks xmlns:a="http://schemas.openxmlformats.org/drawingml/2006/main" noGrp="1"/>
          </p:cNvSpPr>
          <p:nvPr/>
        </p:nvSpPr>
        <p:spPr>
          <a:xfrm xmlns:a="http://schemas.openxmlformats.org/drawingml/2006/main">
            <a:off x="8324850" y="1657350"/>
            <a:ext cx="3314700" cy="1790700"/>
          </a:xfrm>
          <a:prstGeom xmlns:a="http://schemas.openxmlformats.org/drawingml/2006/main" prst="roundRect">
            <a:avLst>
              <a:gd name="adj" fmla="val 6383"/>
            </a:avLst>
          </a:prstGeom>
          <a:solidFill xmlns:a="http://schemas.openxmlformats.org/drawingml/2006/main">
            <a:srgbClr val="FFF2D4"/>
          </a:solidFill>
          <a:ln xmlns:a="http://schemas.openxmlformats.org/drawingml/2006/main" w="9525">
            <a:solidFill>
              <a:srgbClr val="C9D0DC"/>
            </a:solidFill>
            <a:prstDash val="solid"/>
          </a:ln>
        </p:spPr>
      </p:sp>
      <p:sp>
        <p:nvSpPr>
          <p:cNvPr id="12" name="">
            <a:extLst xmlns:a="http://schemas.openxmlformats.org/drawingml/2006/main">
              <a:ext uri="{FF2B5EF4-FFF2-40B4-BE49-F238E27FC236}">
                <a16:creationId xmlns:a16="http://schemas.microsoft.com/office/drawing/2014/main" id="{980023F1-C2F7-4660-93A0-93DADB115958}"/>
              </a:ext>
            </a:extLst>
          </p:cNvPr>
          <p:cNvSpPr>
            <a:spLocks xmlns:a="http://schemas.openxmlformats.org/drawingml/2006/main" noGrp="1"/>
          </p:cNvSpPr>
          <p:nvPr/>
        </p:nvSpPr>
        <p:spPr>
          <a:xfrm xmlns:a="http://schemas.openxmlformats.org/drawingml/2006/main">
            <a:off x="8553450" y="19240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A26A00"/>
                </a:solidFill>
                <a:latin typeface="Arial"/>
                <a:ea typeface="Arial"/>
                <a:cs typeface="Arial"/>
              </a:defRPr>
            </a:pPr>
            <a:r>
              <a:rPr sz="2850" b="1">
                <a:solidFill>
                  <a:srgbClr val="A26A00"/>
                </a:solidFill>
                <a:latin typeface="Arial"/>
                <a:ea typeface="Arial"/>
                <a:cs typeface="Arial"/>
              </a:rPr>
              <a:t>0.3 s</a:t>
            </a:r>
          </a:p>
        </p:txBody>
      </p:sp>
      <p:sp>
        <p:nvSpPr>
          <p:cNvPr id="13" name="">
            <a:extLst xmlns:a="http://schemas.openxmlformats.org/drawingml/2006/main">
              <a:ext uri="{FF2B5EF4-FFF2-40B4-BE49-F238E27FC236}">
                <a16:creationId xmlns:a16="http://schemas.microsoft.com/office/drawing/2014/main" id="{50DB8D95-2984-4CD4-AC56-33B7E1E86D3C}"/>
              </a:ext>
            </a:extLst>
          </p:cNvPr>
          <p:cNvSpPr>
            <a:spLocks xmlns:a="http://schemas.openxmlformats.org/drawingml/2006/main" noGrp="1"/>
          </p:cNvSpPr>
          <p:nvPr/>
        </p:nvSpPr>
        <p:spPr>
          <a:xfrm xmlns:a="http://schemas.openxmlformats.org/drawingml/2006/main">
            <a:off x="8553450" y="2590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87B"/>
                </a:solidFill>
                <a:latin typeface="Arial"/>
                <a:ea typeface="Arial"/>
                <a:cs typeface="Arial"/>
              </a:defRPr>
            </a:pPr>
            <a:r>
              <a:rPr sz="1275" b="0">
                <a:solidFill>
                  <a:srgbClr val="5E687B"/>
                </a:solidFill>
                <a:latin typeface="Arial"/>
                <a:ea typeface="Arial"/>
                <a:cs typeface="Arial"/>
              </a:rPr>
              <a:t>Threshold-rejected questions return before generation.</a:t>
            </a:r>
          </a:p>
        </p:txBody>
      </p:sp>
      <p:sp>
        <p:nvSpPr>
          <p:cNvPr id="14" name="">
            <a:extLst xmlns:a="http://schemas.openxmlformats.org/drawingml/2006/main">
              <a:ext uri="{FF2B5EF4-FFF2-40B4-BE49-F238E27FC236}">
                <a16:creationId xmlns:a16="http://schemas.microsoft.com/office/drawing/2014/main" id="{C7D1AAB3-A403-4B9D-BE28-ED8959F004AA}"/>
              </a:ext>
            </a:extLst>
          </p:cNvPr>
          <p:cNvSpPr>
            <a:spLocks xmlns:a="http://schemas.openxmlformats.org/drawingml/2006/main" noGrp="1"/>
          </p:cNvSpPr>
          <p:nvPr/>
        </p:nvSpPr>
        <p:spPr>
          <a:xfrm xmlns:a="http://schemas.openxmlformats.org/drawingml/2006/main">
            <a:off x="552450" y="4000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101827"/>
                </a:solidFill>
                <a:latin typeface="Arial"/>
                <a:ea typeface="Arial"/>
                <a:cs typeface="Arial"/>
              </a:defRPr>
            </a:pPr>
            <a:r>
              <a:rPr sz="1725" b="1">
                <a:solidFill>
                  <a:srgbClr val="101827"/>
                </a:solidFill>
                <a:latin typeface="Arial"/>
                <a:ea typeface="Arial"/>
                <a:cs typeface="Arial"/>
              </a:rPr>
              <a:t>Three deeper findings</a:t>
            </a:r>
          </a:p>
        </p:txBody>
      </p:sp>
      <p:sp>
        <p:nvSpPr>
          <p:cNvPr id="15" name="">
            <a:extLst xmlns:a="http://schemas.openxmlformats.org/drawingml/2006/main">
              <a:ext uri="{FF2B5EF4-FFF2-40B4-BE49-F238E27FC236}">
                <a16:creationId xmlns:a16="http://schemas.microsoft.com/office/drawing/2014/main" id="{1EDD5A82-C5C8-43FF-9926-3FF8ED544498}"/>
              </a:ext>
            </a:extLst>
          </p:cNvPr>
          <p:cNvSpPr>
            <a:spLocks xmlns:a="http://schemas.openxmlformats.org/drawingml/2006/main" noGrp="1"/>
          </p:cNvSpPr>
          <p:nvPr/>
        </p:nvSpPr>
        <p:spPr>
          <a:xfrm xmlns:a="http://schemas.openxmlformats.org/drawingml/2006/main">
            <a:off x="552450" y="45910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3561DC"/>
                </a:solidFill>
                <a:latin typeface="Arial"/>
                <a:ea typeface="Arial"/>
                <a:cs typeface="Arial"/>
              </a:defRPr>
            </a:pPr>
            <a:r>
              <a:rPr sz="1050" b="1">
                <a:solidFill>
                  <a:srgbClr val="3561DC"/>
                </a:solidFill>
                <a:latin typeface="Arial"/>
                <a:ea typeface="Arial"/>
                <a:cs typeface="Arial"/>
              </a:rPr>
              <a:t>01</a:t>
            </a:r>
          </a:p>
        </p:txBody>
      </p:sp>
      <p:sp>
        <p:nvSpPr>
          <p:cNvPr id="16" name="">
            <a:extLst xmlns:a="http://schemas.openxmlformats.org/drawingml/2006/main">
              <a:ext uri="{FF2B5EF4-FFF2-40B4-BE49-F238E27FC236}">
                <a16:creationId xmlns:a16="http://schemas.microsoft.com/office/drawing/2014/main" id="{A090AE42-160F-480E-86F2-ABDE84B1A878}"/>
              </a:ext>
            </a:extLst>
          </p:cNvPr>
          <p:cNvSpPr>
            <a:spLocks xmlns:a="http://schemas.openxmlformats.org/drawingml/2006/main" noGrp="1"/>
          </p:cNvSpPr>
          <p:nvPr/>
        </p:nvSpPr>
        <p:spPr>
          <a:xfrm xmlns:a="http://schemas.openxmlformats.org/drawingml/2006/main">
            <a:off x="1047750" y="453390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101827"/>
                </a:solidFill>
                <a:latin typeface="Arial"/>
                <a:ea typeface="Arial"/>
                <a:cs typeface="Arial"/>
              </a:defRPr>
            </a:pPr>
            <a:r>
              <a:rPr sz="1350" b="0">
                <a:solidFill>
                  <a:srgbClr val="101827"/>
                </a:solidFill>
                <a:latin typeface="Arial"/>
                <a:ea typeface="Arial"/>
                <a:cs typeface="Arial"/>
              </a:rPr>
              <a:t>Above ~0.75, similarity stopped separating answering and merely related passages.</a:t>
            </a:r>
          </a:p>
        </p:txBody>
      </p:sp>
      <p:sp>
        <p:nvSpPr>
          <p:cNvPr id="17" name="">
            <a:extLst xmlns:a="http://schemas.openxmlformats.org/drawingml/2006/main">
              <a:ext uri="{FF2B5EF4-FFF2-40B4-BE49-F238E27FC236}">
                <a16:creationId xmlns:a16="http://schemas.microsoft.com/office/drawing/2014/main" id="{02266C12-C208-4C5A-AB15-6B3EAED441C3}"/>
              </a:ext>
            </a:extLst>
          </p:cNvPr>
          <p:cNvSpPr>
            <a:spLocks xmlns:a="http://schemas.openxmlformats.org/drawingml/2006/main" noGrp="1"/>
          </p:cNvSpPr>
          <p:nvPr/>
        </p:nvSpPr>
        <p:spPr>
          <a:xfrm xmlns:a="http://schemas.openxmlformats.org/drawingml/2006/main">
            <a:off x="552450" y="51244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3561DC"/>
                </a:solidFill>
                <a:latin typeface="Arial"/>
                <a:ea typeface="Arial"/>
                <a:cs typeface="Arial"/>
              </a:defRPr>
            </a:pPr>
            <a:r>
              <a:rPr sz="1050" b="1">
                <a:solidFill>
                  <a:srgbClr val="3561DC"/>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0BB67329-A15A-46C1-A20C-71EE7BBB84F1}"/>
              </a:ext>
            </a:extLst>
          </p:cNvPr>
          <p:cNvSpPr>
            <a:spLocks xmlns:a="http://schemas.openxmlformats.org/drawingml/2006/main" noGrp="1"/>
          </p:cNvSpPr>
          <p:nvPr/>
        </p:nvSpPr>
        <p:spPr>
          <a:xfrm xmlns:a="http://schemas.openxmlformats.org/drawingml/2006/main">
            <a:off x="1047750" y="506730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101827"/>
                </a:solidFill>
                <a:latin typeface="Arial"/>
                <a:ea typeface="Arial"/>
                <a:cs typeface="Arial"/>
              </a:defRPr>
            </a:pPr>
            <a:r>
              <a:rPr sz="1350" b="0">
                <a:solidFill>
                  <a:srgbClr val="101827"/>
                </a:solidFill>
                <a:latin typeface="Arial"/>
                <a:ea typeface="Arial"/>
                <a:cs typeface="Arial"/>
              </a:rPr>
              <a:t>The 1.5B model improved consistency, but larger capacity did not automatically improve grounding.</a:t>
            </a:r>
          </a:p>
        </p:txBody>
      </p:sp>
      <p:sp>
        <p:nvSpPr>
          <p:cNvPr id="19" name="">
            <a:extLst xmlns:a="http://schemas.openxmlformats.org/drawingml/2006/main">
              <a:ext uri="{FF2B5EF4-FFF2-40B4-BE49-F238E27FC236}">
                <a16:creationId xmlns:a16="http://schemas.microsoft.com/office/drawing/2014/main" id="{F0372CE7-9030-4ADD-9F93-72042DC418A4}"/>
              </a:ext>
            </a:extLst>
          </p:cNvPr>
          <p:cNvSpPr>
            <a:spLocks xmlns:a="http://schemas.openxmlformats.org/drawingml/2006/main" noGrp="1"/>
          </p:cNvSpPr>
          <p:nvPr/>
        </p:nvSpPr>
        <p:spPr>
          <a:xfrm xmlns:a="http://schemas.openxmlformats.org/drawingml/2006/main">
            <a:off x="552450" y="5657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3561DC"/>
                </a:solidFill>
                <a:latin typeface="Arial"/>
                <a:ea typeface="Arial"/>
                <a:cs typeface="Arial"/>
              </a:defRPr>
            </a:pPr>
            <a:r>
              <a:rPr sz="1050" b="1">
                <a:solidFill>
                  <a:srgbClr val="3561DC"/>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29142779-B7E6-404C-A3A8-8606539CE74E}"/>
              </a:ext>
            </a:extLst>
          </p:cNvPr>
          <p:cNvSpPr>
            <a:spLocks xmlns:a="http://schemas.openxmlformats.org/drawingml/2006/main" noGrp="1"/>
          </p:cNvSpPr>
          <p:nvPr/>
        </p:nvSpPr>
        <p:spPr>
          <a:xfrm xmlns:a="http://schemas.openxmlformats.org/drawingml/2006/main">
            <a:off x="1047750" y="560070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101827"/>
                </a:solidFill>
                <a:latin typeface="Arial"/>
                <a:ea typeface="Arial"/>
                <a:cs typeface="Arial"/>
              </a:defRPr>
            </a:pPr>
            <a:r>
              <a:rPr sz="1350" b="0">
                <a:solidFill>
                  <a:srgbClr val="101827"/>
                </a:solidFill>
                <a:latin typeface="Arial"/>
                <a:ea typeface="Arial"/>
                <a:cs typeface="Arial"/>
              </a:rPr>
              <a:t>A failed query-prefix experiment was measured, documented, and deliberately reverted.</a:t>
            </a:r>
          </a:p>
        </p:txBody>
      </p:sp>
      <p:sp>
        <p:nvSpPr>
          <p:cNvPr id="21" name="">
            <a:extLst xmlns:a="http://schemas.openxmlformats.org/drawingml/2006/main">
              <a:ext uri="{FF2B5EF4-FFF2-40B4-BE49-F238E27FC236}">
                <a16:creationId xmlns:a16="http://schemas.microsoft.com/office/drawing/2014/main" id="{9B54391D-1C53-4DE6-9184-7971CA301BB3}"/>
              </a:ext>
            </a:extLst>
          </p:cNvPr>
          <p:cNvSpPr>
            <a:spLocks xmlns:a="http://schemas.openxmlformats.org/drawingml/2006/main" noGrp="1"/>
          </p:cNvSpPr>
          <p:nvPr/>
        </p:nvSpPr>
        <p:spPr>
          <a:xfrm xmlns:a="http://schemas.openxmlformats.org/drawingml/2006/main">
            <a:off x="533400" y="64960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defRPr sz="675" b="0">
                <a:solidFill>
                  <a:srgbClr val="5E687B"/>
                </a:solidFill>
                <a:latin typeface="Arial"/>
                <a:ea typeface="Arial"/>
                <a:cs typeface="Arial"/>
              </a:defRPr>
            </a:pPr>
            <a:r>
              <a:rPr sz="675" b="0">
                <a:solidFill>
                  <a:srgbClr val="5E687B"/>
                </a:solidFill>
                <a:latin typeface="Arial"/>
                <a:ea typeface="Arial"/>
                <a:cs typeface="Arial"/>
              </a:rPr>
              <a:t>Source: docs/evaluation.md and docs/blind-evaluation.md</a:t>
            </a:r>
          </a:p>
        </p:txBody>
      </p:sp>
    </p:spTree>
    <p:extLst>
      <p:ext uri="{BB962C8B-B14F-4D97-AF65-F5344CB8AC3E}">
        <p14:creationId xmlns:p14="http://schemas.microsoft.com/office/powerpoint/2010/main" val="6995544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A38DD90-8EEA-43F4-9D0D-6AD745B6A610}"/>
              </a:ext>
            </a:extLst>
          </p:cNvPr>
          <p:cNvSpPr>
            <a:spLocks xmlns:a="http://schemas.openxmlformats.org/drawingml/2006/main" noGrp="1"/>
          </p:cNvSpPr>
          <p:nvPr/>
        </p:nvSpPr>
        <p:spPr>
          <a:xfrm xmlns:a="http://schemas.openxmlformats.org/drawingml/2006/main">
            <a:off x="5334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1">
                <a:solidFill>
                  <a:srgbClr val="3561DC"/>
                </a:solidFill>
                <a:latin typeface="Arial"/>
                <a:ea typeface="Arial"/>
                <a:cs typeface="Arial"/>
              </a:defRPr>
            </a:pPr>
            <a:r>
              <a:rPr sz="900" b="1">
                <a:solidFill>
                  <a:srgbClr val="3561DC"/>
                </a:solidFill>
                <a:latin typeface="Arial"/>
                <a:ea typeface="Arial"/>
                <a:cs typeface="Arial"/>
              </a:rPr>
              <a:t>QUALITY</a:t>
            </a:r>
          </a:p>
        </p:txBody>
      </p:sp>
      <p:sp>
        <p:nvSpPr>
          <p:cNvPr id="2" name="">
            <a:extLst xmlns:a="http://schemas.openxmlformats.org/drawingml/2006/main">
              <a:ext uri="{FF2B5EF4-FFF2-40B4-BE49-F238E27FC236}">
                <a16:creationId xmlns:a16="http://schemas.microsoft.com/office/drawing/2014/main" id="{DB7AD28F-53CD-432D-A3FB-F15EE76CD1E3}"/>
              </a:ext>
            </a:extLst>
          </p:cNvPr>
          <p:cNvSpPr>
            <a:spLocks xmlns:a="http://schemas.openxmlformats.org/drawingml/2006/main" noGrp="1"/>
          </p:cNvSpPr>
          <p:nvPr/>
        </p:nvSpPr>
        <p:spPr>
          <a:xfrm xmlns:a="http://schemas.openxmlformats.org/drawingml/2006/main">
            <a:off x="533400" y="5334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1827"/>
                </a:solidFill>
                <a:latin typeface="Arial"/>
                <a:ea typeface="Arial"/>
                <a:cs typeface="Arial"/>
              </a:defRPr>
            </a:pPr>
            <a:r>
              <a:rPr sz="2700" b="1">
                <a:solidFill>
                  <a:srgbClr val="101827"/>
                </a:solidFill>
                <a:latin typeface="Arial"/>
                <a:ea typeface="Arial"/>
                <a:cs typeface="Arial"/>
              </a:rPr>
              <a:t>Tests converted engineering decisions into guarantees</a:t>
            </a:r>
          </a:p>
        </p:txBody>
      </p:sp>
      <p:sp>
        <p:nvSpPr>
          <p:cNvPr id="3" name="">
            <a:extLst xmlns:a="http://schemas.openxmlformats.org/drawingml/2006/main">
              <a:ext uri="{FF2B5EF4-FFF2-40B4-BE49-F238E27FC236}">
                <a16:creationId xmlns:a16="http://schemas.microsoft.com/office/drawing/2014/main" id="{87CA827D-E609-418F-9A54-F54D37731541}"/>
              </a:ext>
            </a:extLst>
          </p:cNvPr>
          <p:cNvSpPr>
            <a:spLocks xmlns:a="http://schemas.openxmlformats.org/drawingml/2006/main" noGrp="1"/>
          </p:cNvSpPr>
          <p:nvPr/>
        </p:nvSpPr>
        <p:spPr>
          <a:xfrm xmlns:a="http://schemas.openxmlformats.org/drawingml/2006/main">
            <a:off x="11258550" y="3429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E687B"/>
                </a:solidFill>
                <a:latin typeface="Arial"/>
                <a:ea typeface="Arial"/>
                <a:cs typeface="Arial"/>
              </a:defRPr>
            </a:pPr>
            <a:r>
              <a:rPr sz="900" b="0">
                <a:solidFill>
                  <a:srgbClr val="5E687B"/>
                </a:solidFill>
                <a:latin typeface="Arial"/>
                <a:ea typeface="Arial"/>
                <a:cs typeface="Arial"/>
              </a:rPr>
              <a:t>07</a:t>
            </a:r>
          </a:p>
        </p:txBody>
      </p:sp>
      <p:cxnSp>
        <p:nvCxnSpPr>
          <p:cNvPr id="30"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C9D0DC"/>
            </a:solidFill>
            <a:prstDash val="solid"/>
          </a:ln>
        </p:spPr>
      </p:cxnSp>
      <p:sp>
        <p:nvSpPr>
          <p:cNvPr id="5" name="">
            <a:extLst xmlns:a="http://schemas.openxmlformats.org/drawingml/2006/main">
              <a:ext uri="{FF2B5EF4-FFF2-40B4-BE49-F238E27FC236}">
                <a16:creationId xmlns:a16="http://schemas.microsoft.com/office/drawing/2014/main" id="{B4660B8C-F790-4961-8C02-A8D25D0E6CBB}"/>
              </a:ext>
            </a:extLst>
          </p:cNvPr>
          <p:cNvSpPr>
            <a:spLocks xmlns:a="http://schemas.openxmlformats.org/drawingml/2006/main" noGrp="1"/>
          </p:cNvSpPr>
          <p:nvPr/>
        </p:nvSpPr>
        <p:spPr>
          <a:xfrm xmlns:a="http://schemas.openxmlformats.org/drawingml/2006/main">
            <a:off x="552450" y="1562100"/>
            <a:ext cx="7105650" cy="4381500"/>
          </a:xfrm>
          <a:prstGeom xmlns:a="http://schemas.openxmlformats.org/drawingml/2006/main" prst="roundRect">
            <a:avLst>
              <a:gd name="adj" fmla="val 2609"/>
            </a:avLst>
          </a:prstGeom>
          <a:solidFill xmlns:a="http://schemas.openxmlformats.org/drawingml/2006/main">
            <a:srgbClr val="0B1020"/>
          </a:solidFill>
          <a:ln xmlns:a="http://schemas.openxmlformats.org/drawingml/2006/main" w="0">
            <a:solidFill>
              <a:srgbClr val="0B1020"/>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a8599eeabc74480"/>
          <a:stretch xmlns:a="http://schemas.openxmlformats.org/drawingml/2006/main"/>
        </p:blipFill>
        <p:spPr>
          <a:xfrm xmlns:a="http://schemas.openxmlformats.org/drawingml/2006/main">
            <a:off x="685800" y="1829395"/>
            <a:ext cx="6838950" cy="384690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61B30FF-1659-465D-9F32-CBE05E9DDCE6}"/>
              </a:ext>
            </a:extLst>
          </p:cNvPr>
          <p:cNvSpPr>
            <a:spLocks xmlns:a="http://schemas.openxmlformats.org/drawingml/2006/main" noGrp="1"/>
          </p:cNvSpPr>
          <p:nvPr/>
        </p:nvSpPr>
        <p:spPr>
          <a:xfrm xmlns:a="http://schemas.openxmlformats.org/drawingml/2006/main">
            <a:off x="8096250" y="17907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800" b="1">
                <a:solidFill>
                  <a:srgbClr val="101827"/>
                </a:solidFill>
                <a:latin typeface="Arial"/>
                <a:ea typeface="Arial"/>
                <a:cs typeface="Arial"/>
              </a:defRPr>
            </a:pPr>
            <a:r>
              <a:rPr sz="1800" b="1">
                <a:solidFill>
                  <a:srgbClr val="101827"/>
                </a:solidFill>
                <a:latin typeface="Arial"/>
                <a:ea typeface="Arial"/>
                <a:cs typeface="Arial"/>
              </a:rPr>
              <a:t>The suite protects:</a:t>
            </a:r>
          </a:p>
        </p:txBody>
      </p:sp>
      <p:sp>
        <p:nvSpPr>
          <p:cNvPr id="8" name="">
            <a:extLst xmlns:a="http://schemas.openxmlformats.org/drawingml/2006/main">
              <a:ext uri="{FF2B5EF4-FFF2-40B4-BE49-F238E27FC236}">
                <a16:creationId xmlns:a16="http://schemas.microsoft.com/office/drawing/2014/main" id="{1489C7EF-FA04-4B3C-84EF-5C81AB82D1B0}"/>
              </a:ext>
            </a:extLst>
          </p:cNvPr>
          <p:cNvSpPr>
            <a:spLocks xmlns:a="http://schemas.openxmlformats.org/drawingml/2006/main" noGrp="1"/>
          </p:cNvSpPr>
          <p:nvPr/>
        </p:nvSpPr>
        <p:spPr>
          <a:xfrm xmlns:a="http://schemas.openxmlformats.org/drawingml/2006/main">
            <a:off x="8096250" y="2362200"/>
            <a:ext cx="266700" cy="266700"/>
          </a:xfrm>
          <a:prstGeom xmlns:a="http://schemas.openxmlformats.org/drawingml/2006/main" prst="ellipse">
            <a:avLst/>
          </a:prstGeom>
          <a:solidFill xmlns:a="http://schemas.openxmlformats.org/drawingml/2006/main">
            <a:srgbClr val="DFF5EA"/>
          </a:solidFill>
          <a:ln xmlns:a="http://schemas.openxmlformats.org/drawingml/2006/main" w="0">
            <a:solidFill>
              <a:srgbClr val="DFF5EA"/>
            </a:solidFill>
            <a:prstDash val="solid"/>
          </a:ln>
        </p:spPr>
      </p:sp>
      <p:sp>
        <p:nvSpPr>
          <p:cNvPr id="9" name="">
            <a:extLst xmlns:a="http://schemas.openxmlformats.org/drawingml/2006/main">
              <a:ext uri="{FF2B5EF4-FFF2-40B4-BE49-F238E27FC236}">
                <a16:creationId xmlns:a16="http://schemas.microsoft.com/office/drawing/2014/main" id="{4A9326E2-E5CF-4D0C-A0EE-62577F5BC09B}"/>
              </a:ext>
            </a:extLst>
          </p:cNvPr>
          <p:cNvSpPr>
            <a:spLocks xmlns:a="http://schemas.openxmlformats.org/drawingml/2006/main" noGrp="1"/>
          </p:cNvSpPr>
          <p:nvPr/>
        </p:nvSpPr>
        <p:spPr>
          <a:xfrm xmlns:a="http://schemas.openxmlformats.org/drawingml/2006/main">
            <a:off x="8143875" y="23812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defRPr sz="1125" b="1">
                <a:solidFill>
                  <a:srgbClr val="1F9D65"/>
                </a:solidFill>
                <a:latin typeface="Arial"/>
                <a:ea typeface="Arial"/>
                <a:cs typeface="Arial"/>
              </a:defRPr>
            </a:pPr>
            <a:r>
              <a:rPr sz="1125" b="1">
                <a:solidFill>
                  <a:srgbClr val="1F9D65"/>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3305D74-E692-454B-B1AB-F4C563BF47D6}"/>
              </a:ext>
            </a:extLst>
          </p:cNvPr>
          <p:cNvSpPr>
            <a:spLocks xmlns:a="http://schemas.openxmlformats.org/drawingml/2006/main" noGrp="1"/>
          </p:cNvSpPr>
          <p:nvPr/>
        </p:nvSpPr>
        <p:spPr>
          <a:xfrm xmlns:a="http://schemas.openxmlformats.org/drawingml/2006/main">
            <a:off x="8534400" y="23622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01827"/>
                </a:solidFill>
                <a:latin typeface="Arial"/>
                <a:ea typeface="Arial"/>
                <a:cs typeface="Arial"/>
              </a:defRPr>
            </a:pPr>
            <a:r>
              <a:rPr sz="1200" b="0">
                <a:solidFill>
                  <a:srgbClr val="101827"/>
                </a:solidFill>
                <a:latin typeface="Arial"/>
                <a:ea typeface="Arial"/>
                <a:cs typeface="Arial"/>
              </a:rPr>
              <a:t>Chunking and ingestion</a:t>
            </a:r>
          </a:p>
        </p:txBody>
      </p:sp>
      <p:sp>
        <p:nvSpPr>
          <p:cNvPr id="11" name="">
            <a:extLst xmlns:a="http://schemas.openxmlformats.org/drawingml/2006/main">
              <a:ext uri="{FF2B5EF4-FFF2-40B4-BE49-F238E27FC236}">
                <a16:creationId xmlns:a16="http://schemas.microsoft.com/office/drawing/2014/main" id="{0AD44717-57F6-4689-8A7A-92E862CDCA0F}"/>
              </a:ext>
            </a:extLst>
          </p:cNvPr>
          <p:cNvSpPr>
            <a:spLocks xmlns:a="http://schemas.openxmlformats.org/drawingml/2006/main" noGrp="1"/>
          </p:cNvSpPr>
          <p:nvPr/>
        </p:nvSpPr>
        <p:spPr>
          <a:xfrm xmlns:a="http://schemas.openxmlformats.org/drawingml/2006/main">
            <a:off x="8096250" y="2895600"/>
            <a:ext cx="266700" cy="266700"/>
          </a:xfrm>
          <a:prstGeom xmlns:a="http://schemas.openxmlformats.org/drawingml/2006/main" prst="ellipse">
            <a:avLst/>
          </a:prstGeom>
          <a:solidFill xmlns:a="http://schemas.openxmlformats.org/drawingml/2006/main">
            <a:srgbClr val="DFF5EA"/>
          </a:solidFill>
          <a:ln xmlns:a="http://schemas.openxmlformats.org/drawingml/2006/main" w="0">
            <a:solidFill>
              <a:srgbClr val="DFF5EA"/>
            </a:solidFill>
            <a:prstDash val="solid"/>
          </a:ln>
        </p:spPr>
      </p:sp>
      <p:sp>
        <p:nvSpPr>
          <p:cNvPr id="12" name="">
            <a:extLst xmlns:a="http://schemas.openxmlformats.org/drawingml/2006/main">
              <a:ext uri="{FF2B5EF4-FFF2-40B4-BE49-F238E27FC236}">
                <a16:creationId xmlns:a16="http://schemas.microsoft.com/office/drawing/2014/main" id="{698A37F5-047F-4C3C-969E-D0A3BE3508CB}"/>
              </a:ext>
            </a:extLst>
          </p:cNvPr>
          <p:cNvSpPr>
            <a:spLocks xmlns:a="http://schemas.openxmlformats.org/drawingml/2006/main" noGrp="1"/>
          </p:cNvSpPr>
          <p:nvPr/>
        </p:nvSpPr>
        <p:spPr>
          <a:xfrm xmlns:a="http://schemas.openxmlformats.org/drawingml/2006/main">
            <a:off x="8143875" y="29146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defRPr sz="1125" b="1">
                <a:solidFill>
                  <a:srgbClr val="1F9D65"/>
                </a:solidFill>
                <a:latin typeface="Arial"/>
                <a:ea typeface="Arial"/>
                <a:cs typeface="Arial"/>
              </a:defRPr>
            </a:pPr>
            <a:r>
              <a:rPr sz="1125" b="1">
                <a:solidFill>
                  <a:srgbClr val="1F9D65"/>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AD5E6CD7-C625-4831-8591-D28FA4FECAD6}"/>
              </a:ext>
            </a:extLst>
          </p:cNvPr>
          <p:cNvSpPr>
            <a:spLocks xmlns:a="http://schemas.openxmlformats.org/drawingml/2006/main" noGrp="1"/>
          </p:cNvSpPr>
          <p:nvPr/>
        </p:nvSpPr>
        <p:spPr>
          <a:xfrm xmlns:a="http://schemas.openxmlformats.org/drawingml/2006/main">
            <a:off x="8534400" y="28956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01827"/>
                </a:solidFill>
                <a:latin typeface="Arial"/>
                <a:ea typeface="Arial"/>
                <a:cs typeface="Arial"/>
              </a:defRPr>
            </a:pPr>
            <a:r>
              <a:rPr sz="1200" b="0">
                <a:solidFill>
                  <a:srgbClr val="101827"/>
                </a:solidFill>
                <a:latin typeface="Arial"/>
                <a:ea typeface="Arial"/>
                <a:cs typeface="Arial"/>
              </a:rPr>
              <a:t>Cosine similarity and vector length</a:t>
            </a:r>
          </a:p>
        </p:txBody>
      </p:sp>
      <p:sp>
        <p:nvSpPr>
          <p:cNvPr id="14" name="">
            <a:extLst xmlns:a="http://schemas.openxmlformats.org/drawingml/2006/main">
              <a:ext uri="{FF2B5EF4-FFF2-40B4-BE49-F238E27FC236}">
                <a16:creationId xmlns:a16="http://schemas.microsoft.com/office/drawing/2014/main" id="{A5A15B2B-090A-4237-8864-64B69C700DFE}"/>
              </a:ext>
            </a:extLst>
          </p:cNvPr>
          <p:cNvSpPr>
            <a:spLocks xmlns:a="http://schemas.openxmlformats.org/drawingml/2006/main" noGrp="1"/>
          </p:cNvSpPr>
          <p:nvPr/>
        </p:nvSpPr>
        <p:spPr>
          <a:xfrm xmlns:a="http://schemas.openxmlformats.org/drawingml/2006/main">
            <a:off x="8096250" y="3429000"/>
            <a:ext cx="266700" cy="266700"/>
          </a:xfrm>
          <a:prstGeom xmlns:a="http://schemas.openxmlformats.org/drawingml/2006/main" prst="ellipse">
            <a:avLst/>
          </a:prstGeom>
          <a:solidFill xmlns:a="http://schemas.openxmlformats.org/drawingml/2006/main">
            <a:srgbClr val="DFF5EA"/>
          </a:solidFill>
          <a:ln xmlns:a="http://schemas.openxmlformats.org/drawingml/2006/main" w="0">
            <a:solidFill>
              <a:srgbClr val="DFF5EA"/>
            </a:solidFill>
            <a:prstDash val="solid"/>
          </a:ln>
        </p:spPr>
      </p:sp>
      <p:sp>
        <p:nvSpPr>
          <p:cNvPr id="15" name="">
            <a:extLst xmlns:a="http://schemas.openxmlformats.org/drawingml/2006/main">
              <a:ext uri="{FF2B5EF4-FFF2-40B4-BE49-F238E27FC236}">
                <a16:creationId xmlns:a16="http://schemas.microsoft.com/office/drawing/2014/main" id="{12063133-5201-42F1-98FF-E70367887478}"/>
              </a:ext>
            </a:extLst>
          </p:cNvPr>
          <p:cNvSpPr>
            <a:spLocks xmlns:a="http://schemas.openxmlformats.org/drawingml/2006/main" noGrp="1"/>
          </p:cNvSpPr>
          <p:nvPr/>
        </p:nvSpPr>
        <p:spPr>
          <a:xfrm xmlns:a="http://schemas.openxmlformats.org/drawingml/2006/main">
            <a:off x="8143875" y="34480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defRPr sz="1125" b="1">
                <a:solidFill>
                  <a:srgbClr val="1F9D65"/>
                </a:solidFill>
                <a:latin typeface="Arial"/>
                <a:ea typeface="Arial"/>
                <a:cs typeface="Arial"/>
              </a:defRPr>
            </a:pPr>
            <a:r>
              <a:rPr sz="1125" b="1">
                <a:solidFill>
                  <a:srgbClr val="1F9D65"/>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8058DE22-5C3F-4107-93D7-5D9E034858FD}"/>
              </a:ext>
            </a:extLst>
          </p:cNvPr>
          <p:cNvSpPr>
            <a:spLocks xmlns:a="http://schemas.openxmlformats.org/drawingml/2006/main" noGrp="1"/>
          </p:cNvSpPr>
          <p:nvPr/>
        </p:nvSpPr>
        <p:spPr>
          <a:xfrm xmlns:a="http://schemas.openxmlformats.org/drawingml/2006/main">
            <a:off x="8534400" y="3429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01827"/>
                </a:solidFill>
                <a:latin typeface="Arial"/>
                <a:ea typeface="Arial"/>
                <a:cs typeface="Arial"/>
              </a:defRPr>
            </a:pPr>
            <a:r>
              <a:rPr sz="1200" b="0">
                <a:solidFill>
                  <a:srgbClr val="101827"/>
                </a:solidFill>
                <a:latin typeface="Arial"/>
                <a:ea typeface="Arial"/>
                <a:cs typeface="Arial"/>
              </a:rPr>
              <a:t>Top-K ordering and source propagation</a:t>
            </a:r>
          </a:p>
        </p:txBody>
      </p:sp>
      <p:sp>
        <p:nvSpPr>
          <p:cNvPr id="17" name="">
            <a:extLst xmlns:a="http://schemas.openxmlformats.org/drawingml/2006/main">
              <a:ext uri="{FF2B5EF4-FFF2-40B4-BE49-F238E27FC236}">
                <a16:creationId xmlns:a16="http://schemas.microsoft.com/office/drawing/2014/main" id="{6573D044-1C7B-4AB2-8AA9-061E9AB4265C}"/>
              </a:ext>
            </a:extLst>
          </p:cNvPr>
          <p:cNvSpPr>
            <a:spLocks xmlns:a="http://schemas.openxmlformats.org/drawingml/2006/main" noGrp="1"/>
          </p:cNvSpPr>
          <p:nvPr/>
        </p:nvSpPr>
        <p:spPr>
          <a:xfrm xmlns:a="http://schemas.openxmlformats.org/drawingml/2006/main">
            <a:off x="8096250" y="3962400"/>
            <a:ext cx="266700" cy="266700"/>
          </a:xfrm>
          <a:prstGeom xmlns:a="http://schemas.openxmlformats.org/drawingml/2006/main" prst="ellipse">
            <a:avLst/>
          </a:prstGeom>
          <a:solidFill xmlns:a="http://schemas.openxmlformats.org/drawingml/2006/main">
            <a:srgbClr val="DFF5EA"/>
          </a:solidFill>
          <a:ln xmlns:a="http://schemas.openxmlformats.org/drawingml/2006/main" w="0">
            <a:solidFill>
              <a:srgbClr val="DFF5EA"/>
            </a:solidFill>
            <a:prstDash val="solid"/>
          </a:ln>
        </p:spPr>
      </p:sp>
      <p:sp>
        <p:nvSpPr>
          <p:cNvPr id="18" name="">
            <a:extLst xmlns:a="http://schemas.openxmlformats.org/drawingml/2006/main">
              <a:ext uri="{FF2B5EF4-FFF2-40B4-BE49-F238E27FC236}">
                <a16:creationId xmlns:a16="http://schemas.microsoft.com/office/drawing/2014/main" id="{45F81B0D-605D-48B2-89C2-95E53195D642}"/>
              </a:ext>
            </a:extLst>
          </p:cNvPr>
          <p:cNvSpPr>
            <a:spLocks xmlns:a="http://schemas.openxmlformats.org/drawingml/2006/main" noGrp="1"/>
          </p:cNvSpPr>
          <p:nvPr/>
        </p:nvSpPr>
        <p:spPr>
          <a:xfrm xmlns:a="http://schemas.openxmlformats.org/drawingml/2006/main">
            <a:off x="8143875" y="39814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defRPr sz="1125" b="1">
                <a:solidFill>
                  <a:srgbClr val="1F9D65"/>
                </a:solidFill>
                <a:latin typeface="Arial"/>
                <a:ea typeface="Arial"/>
                <a:cs typeface="Arial"/>
              </a:defRPr>
            </a:pPr>
            <a:r>
              <a:rPr sz="1125" b="1">
                <a:solidFill>
                  <a:srgbClr val="1F9D65"/>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4572C2AD-8B7D-4DC3-876D-0681B5005CDA}"/>
              </a:ext>
            </a:extLst>
          </p:cNvPr>
          <p:cNvSpPr>
            <a:spLocks xmlns:a="http://schemas.openxmlformats.org/drawingml/2006/main" noGrp="1"/>
          </p:cNvSpPr>
          <p:nvPr/>
        </p:nvSpPr>
        <p:spPr>
          <a:xfrm xmlns:a="http://schemas.openxmlformats.org/drawingml/2006/main">
            <a:off x="8534400" y="39624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01827"/>
                </a:solidFill>
                <a:latin typeface="Arial"/>
                <a:ea typeface="Arial"/>
                <a:cs typeface="Arial"/>
              </a:defRPr>
            </a:pPr>
            <a:r>
              <a:rPr sz="1200" b="0">
                <a:solidFill>
                  <a:srgbClr val="101827"/>
                </a:solidFill>
                <a:latin typeface="Arial"/>
                <a:ea typeface="Arial"/>
                <a:cs typeface="Arial"/>
              </a:rPr>
              <a:t>Threshold boundary and fallback</a:t>
            </a:r>
          </a:p>
        </p:txBody>
      </p:sp>
      <p:sp>
        <p:nvSpPr>
          <p:cNvPr id="20" name="">
            <a:extLst xmlns:a="http://schemas.openxmlformats.org/drawingml/2006/main">
              <a:ext uri="{FF2B5EF4-FFF2-40B4-BE49-F238E27FC236}">
                <a16:creationId xmlns:a16="http://schemas.microsoft.com/office/drawing/2014/main" id="{83D6EEF5-F538-4A41-9E49-5A86A1F9C1A0}"/>
              </a:ext>
            </a:extLst>
          </p:cNvPr>
          <p:cNvSpPr>
            <a:spLocks xmlns:a="http://schemas.openxmlformats.org/drawingml/2006/main" noGrp="1"/>
          </p:cNvSpPr>
          <p:nvPr/>
        </p:nvSpPr>
        <p:spPr>
          <a:xfrm xmlns:a="http://schemas.openxmlformats.org/drawingml/2006/main">
            <a:off x="8096250" y="4495800"/>
            <a:ext cx="266700" cy="266700"/>
          </a:xfrm>
          <a:prstGeom xmlns:a="http://schemas.openxmlformats.org/drawingml/2006/main" prst="ellipse">
            <a:avLst/>
          </a:prstGeom>
          <a:solidFill xmlns:a="http://schemas.openxmlformats.org/drawingml/2006/main">
            <a:srgbClr val="DFF5EA"/>
          </a:solidFill>
          <a:ln xmlns:a="http://schemas.openxmlformats.org/drawingml/2006/main" w="0">
            <a:solidFill>
              <a:srgbClr val="DFF5EA"/>
            </a:solidFill>
            <a:prstDash val="solid"/>
          </a:ln>
        </p:spPr>
      </p:sp>
      <p:sp>
        <p:nvSpPr>
          <p:cNvPr id="21" name="">
            <a:extLst xmlns:a="http://schemas.openxmlformats.org/drawingml/2006/main">
              <a:ext uri="{FF2B5EF4-FFF2-40B4-BE49-F238E27FC236}">
                <a16:creationId xmlns:a16="http://schemas.microsoft.com/office/drawing/2014/main" id="{69CAA33F-0F2B-417D-BA58-B00DDD321E8B}"/>
              </a:ext>
            </a:extLst>
          </p:cNvPr>
          <p:cNvSpPr>
            <a:spLocks xmlns:a="http://schemas.openxmlformats.org/drawingml/2006/main" noGrp="1"/>
          </p:cNvSpPr>
          <p:nvPr/>
        </p:nvSpPr>
        <p:spPr>
          <a:xfrm xmlns:a="http://schemas.openxmlformats.org/drawingml/2006/main">
            <a:off x="8143875" y="45148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defRPr sz="1125" b="1">
                <a:solidFill>
                  <a:srgbClr val="1F9D65"/>
                </a:solidFill>
                <a:latin typeface="Arial"/>
                <a:ea typeface="Arial"/>
                <a:cs typeface="Arial"/>
              </a:defRPr>
            </a:pPr>
            <a:r>
              <a:rPr sz="1125" b="1">
                <a:solidFill>
                  <a:srgbClr val="1F9D65"/>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323D3DB1-5923-4A7E-BD2E-968375766B0B}"/>
              </a:ext>
            </a:extLst>
          </p:cNvPr>
          <p:cNvSpPr>
            <a:spLocks xmlns:a="http://schemas.openxmlformats.org/drawingml/2006/main" noGrp="1"/>
          </p:cNvSpPr>
          <p:nvPr/>
        </p:nvSpPr>
        <p:spPr>
          <a:xfrm xmlns:a="http://schemas.openxmlformats.org/drawingml/2006/main">
            <a:off x="8534400" y="44958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01827"/>
                </a:solidFill>
                <a:latin typeface="Arial"/>
                <a:ea typeface="Arial"/>
                <a:cs typeface="Arial"/>
              </a:defRPr>
            </a:pPr>
            <a:r>
              <a:rPr sz="1200" b="0">
                <a:solidFill>
                  <a:srgbClr val="101827"/>
                </a:solidFill>
                <a:latin typeface="Arial"/>
                <a:ea typeface="Arial"/>
                <a:cs typeface="Arial"/>
              </a:rPr>
              <a:t>CLI cleanup and formatting</a:t>
            </a:r>
          </a:p>
        </p:txBody>
      </p:sp>
      <p:sp>
        <p:nvSpPr>
          <p:cNvPr id="23" name="">
            <a:extLst xmlns:a="http://schemas.openxmlformats.org/drawingml/2006/main">
              <a:ext uri="{FF2B5EF4-FFF2-40B4-BE49-F238E27FC236}">
                <a16:creationId xmlns:a16="http://schemas.microsoft.com/office/drawing/2014/main" id="{4A877211-12F8-420F-A5E2-FB11F444FBCF}"/>
              </a:ext>
            </a:extLst>
          </p:cNvPr>
          <p:cNvSpPr>
            <a:spLocks xmlns:a="http://schemas.openxmlformats.org/drawingml/2006/main" noGrp="1"/>
          </p:cNvSpPr>
          <p:nvPr/>
        </p:nvSpPr>
        <p:spPr>
          <a:xfrm xmlns:a="http://schemas.openxmlformats.org/drawingml/2006/main">
            <a:off x="8096250" y="5029200"/>
            <a:ext cx="266700" cy="266700"/>
          </a:xfrm>
          <a:prstGeom xmlns:a="http://schemas.openxmlformats.org/drawingml/2006/main" prst="ellipse">
            <a:avLst/>
          </a:prstGeom>
          <a:solidFill xmlns:a="http://schemas.openxmlformats.org/drawingml/2006/main">
            <a:srgbClr val="DFF5EA"/>
          </a:solidFill>
          <a:ln xmlns:a="http://schemas.openxmlformats.org/drawingml/2006/main" w="0">
            <a:solidFill>
              <a:srgbClr val="DFF5EA"/>
            </a:solidFill>
            <a:prstDash val="solid"/>
          </a:ln>
        </p:spPr>
      </p:sp>
      <p:sp>
        <p:nvSpPr>
          <p:cNvPr id="24" name="">
            <a:extLst xmlns:a="http://schemas.openxmlformats.org/drawingml/2006/main">
              <a:ext uri="{FF2B5EF4-FFF2-40B4-BE49-F238E27FC236}">
                <a16:creationId xmlns:a16="http://schemas.microsoft.com/office/drawing/2014/main" id="{88AF64D6-E5D7-4617-88B5-2B5F360818D1}"/>
              </a:ext>
            </a:extLst>
          </p:cNvPr>
          <p:cNvSpPr>
            <a:spLocks xmlns:a="http://schemas.openxmlformats.org/drawingml/2006/main" noGrp="1"/>
          </p:cNvSpPr>
          <p:nvPr/>
        </p:nvSpPr>
        <p:spPr>
          <a:xfrm xmlns:a="http://schemas.openxmlformats.org/drawingml/2006/main">
            <a:off x="8143875" y="50482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defRPr sz="1125" b="1">
                <a:solidFill>
                  <a:srgbClr val="1F9D65"/>
                </a:solidFill>
                <a:latin typeface="Arial"/>
                <a:ea typeface="Arial"/>
                <a:cs typeface="Arial"/>
              </a:defRPr>
            </a:pPr>
            <a:r>
              <a:rPr sz="1125" b="1">
                <a:solidFill>
                  <a:srgbClr val="1F9D65"/>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95756B11-4464-445F-966A-9A6E3220896B}"/>
              </a:ext>
            </a:extLst>
          </p:cNvPr>
          <p:cNvSpPr>
            <a:spLocks xmlns:a="http://schemas.openxmlformats.org/drawingml/2006/main" noGrp="1"/>
          </p:cNvSpPr>
          <p:nvPr/>
        </p:nvSpPr>
        <p:spPr>
          <a:xfrm xmlns:a="http://schemas.openxmlformats.org/drawingml/2006/main">
            <a:off x="8534400" y="50292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01827"/>
                </a:solidFill>
                <a:latin typeface="Arial"/>
                <a:ea typeface="Arial"/>
                <a:cs typeface="Arial"/>
              </a:defRPr>
            </a:pPr>
            <a:r>
              <a:rPr sz="1200" b="0">
                <a:solidFill>
                  <a:srgbClr val="101827"/>
                </a:solidFill>
                <a:latin typeface="Arial"/>
                <a:ea typeface="Arial"/>
                <a:cs typeface="Arial"/>
              </a:rPr>
              <a:t>FastAPI and web behavior</a:t>
            </a:r>
          </a:p>
        </p:txBody>
      </p:sp>
      <p:sp>
        <p:nvSpPr>
          <p:cNvPr id="26" name="">
            <a:extLst xmlns:a="http://schemas.openxmlformats.org/drawingml/2006/main">
              <a:ext uri="{FF2B5EF4-FFF2-40B4-BE49-F238E27FC236}">
                <a16:creationId xmlns:a16="http://schemas.microsoft.com/office/drawing/2014/main" id="{9FCF48BE-3037-406D-A7D2-4A0D4EA16868}"/>
              </a:ext>
            </a:extLst>
          </p:cNvPr>
          <p:cNvSpPr>
            <a:spLocks xmlns:a="http://schemas.openxmlformats.org/drawingml/2006/main" noGrp="1"/>
          </p:cNvSpPr>
          <p:nvPr/>
        </p:nvSpPr>
        <p:spPr>
          <a:xfrm xmlns:a="http://schemas.openxmlformats.org/drawingml/2006/main">
            <a:off x="533400" y="64960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defRPr sz="675" b="0">
                <a:solidFill>
                  <a:srgbClr val="5E687B"/>
                </a:solidFill>
                <a:latin typeface="Arial"/>
                <a:ea typeface="Arial"/>
                <a:cs typeface="Arial"/>
              </a:defRPr>
            </a:pPr>
            <a:r>
              <a:rPr sz="675" b="0">
                <a:solidFill>
                  <a:srgbClr val="5E687B"/>
                </a:solidFill>
                <a:latin typeface="Arial"/>
                <a:ea typeface="Arial"/>
                <a:cs typeface="Arial"/>
              </a:rPr>
              <a:t>Current verification: 38 passed in 0.94s</a:t>
            </a:r>
          </a:p>
        </p:txBody>
      </p:sp>
    </p:spTree>
    <p:extLst>
      <p:ext uri="{BB962C8B-B14F-4D97-AF65-F5344CB8AC3E}">
        <p14:creationId xmlns:p14="http://schemas.microsoft.com/office/powerpoint/2010/main" val="7661020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C4DE997-2087-4984-BC2D-CEBB03BB1A4F}"/>
              </a:ext>
            </a:extLst>
          </p:cNvPr>
          <p:cNvSpPr>
            <a:spLocks xmlns:a="http://schemas.openxmlformats.org/drawingml/2006/main" noGrp="1"/>
          </p:cNvSpPr>
          <p:nvPr/>
        </p:nvSpPr>
        <p:spPr>
          <a:xfrm xmlns:a="http://schemas.openxmlformats.org/drawingml/2006/main">
            <a:off x="5334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1">
                <a:solidFill>
                  <a:srgbClr val="3561DC"/>
                </a:solidFill>
                <a:latin typeface="Arial"/>
                <a:ea typeface="Arial"/>
                <a:cs typeface="Arial"/>
              </a:defRPr>
            </a:pPr>
            <a:r>
              <a:rPr sz="900" b="1">
                <a:solidFill>
                  <a:srgbClr val="3561DC"/>
                </a:solidFill>
                <a:latin typeface="Arial"/>
                <a:ea typeface="Arial"/>
                <a:cs typeface="Arial"/>
              </a:rPr>
              <a:t>DELIVERY</a:t>
            </a:r>
          </a:p>
        </p:txBody>
      </p:sp>
      <p:sp>
        <p:nvSpPr>
          <p:cNvPr id="2" name="">
            <a:extLst xmlns:a="http://schemas.openxmlformats.org/drawingml/2006/main">
              <a:ext uri="{FF2B5EF4-FFF2-40B4-BE49-F238E27FC236}">
                <a16:creationId xmlns:a16="http://schemas.microsoft.com/office/drawing/2014/main" id="{3549F904-0995-48A2-8B13-0423292D53EF}"/>
              </a:ext>
            </a:extLst>
          </p:cNvPr>
          <p:cNvSpPr>
            <a:spLocks xmlns:a="http://schemas.openxmlformats.org/drawingml/2006/main" noGrp="1"/>
          </p:cNvSpPr>
          <p:nvPr/>
        </p:nvSpPr>
        <p:spPr>
          <a:xfrm xmlns:a="http://schemas.openxmlformats.org/drawingml/2006/main">
            <a:off x="533400" y="5334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296"/>
          </a:bodyPr>
          <a:lstStyle xmlns:a="http://schemas.openxmlformats.org/drawingml/2006/main"/>
          <a:p xmlns:a="http://schemas.openxmlformats.org/drawingml/2006/main">
            <a:pPr algn="l">
              <a:defRPr sz="2700" b="1">
                <a:solidFill>
                  <a:srgbClr val="101827"/>
                </a:solidFill>
                <a:latin typeface="Arial"/>
                <a:ea typeface="Arial"/>
                <a:cs typeface="Arial"/>
              </a:defRPr>
            </a:pPr>
            <a:r>
              <a:rPr sz="2700" b="1">
                <a:solidFill>
                  <a:srgbClr val="101827"/>
                </a:solidFill>
                <a:latin typeface="Arial"/>
                <a:ea typeface="Arial"/>
                <a:cs typeface="Arial"/>
              </a:rPr>
              <a:t>The final product teaches Foundry Local and answers questions</a:t>
            </a:r>
          </a:p>
        </p:txBody>
      </p:sp>
      <p:sp>
        <p:nvSpPr>
          <p:cNvPr id="3" name="">
            <a:extLst xmlns:a="http://schemas.openxmlformats.org/drawingml/2006/main">
              <a:ext uri="{FF2B5EF4-FFF2-40B4-BE49-F238E27FC236}">
                <a16:creationId xmlns:a16="http://schemas.microsoft.com/office/drawing/2014/main" id="{FC250D86-695A-44EF-81D5-76129E8AF14B}"/>
              </a:ext>
            </a:extLst>
          </p:cNvPr>
          <p:cNvSpPr>
            <a:spLocks xmlns:a="http://schemas.openxmlformats.org/drawingml/2006/main" noGrp="1"/>
          </p:cNvSpPr>
          <p:nvPr/>
        </p:nvSpPr>
        <p:spPr>
          <a:xfrm xmlns:a="http://schemas.openxmlformats.org/drawingml/2006/main">
            <a:off x="11258550" y="3429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E687B"/>
                </a:solidFill>
                <a:latin typeface="Arial"/>
                <a:ea typeface="Arial"/>
                <a:cs typeface="Arial"/>
              </a:defRPr>
            </a:pPr>
            <a:r>
              <a:rPr sz="900" b="0">
                <a:solidFill>
                  <a:srgbClr val="5E687B"/>
                </a:solidFill>
                <a:latin typeface="Arial"/>
                <a:ea typeface="Arial"/>
                <a:cs typeface="Arial"/>
              </a:rPr>
              <a:t>08</a:t>
            </a:r>
          </a:p>
        </p:txBody>
      </p:sp>
      <p:cxnSp>
        <p:nvCxnSpPr>
          <p:cNvPr id="23"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C9D0DC"/>
            </a:solidFill>
            <a:prstDash val="solid"/>
          </a:ln>
        </p:spPr>
      </p:cxnSp>
      <p:sp>
        <p:nvSpPr>
          <p:cNvPr id="5" name="">
            <a:extLst xmlns:a="http://schemas.openxmlformats.org/drawingml/2006/main">
              <a:ext uri="{FF2B5EF4-FFF2-40B4-BE49-F238E27FC236}">
                <a16:creationId xmlns:a16="http://schemas.microsoft.com/office/drawing/2014/main" id="{3A10CC74-E14C-48F2-AF89-E3E79EE0A3CF}"/>
              </a:ext>
            </a:extLst>
          </p:cNvPr>
          <p:cNvSpPr>
            <a:spLocks xmlns:a="http://schemas.openxmlformats.org/drawingml/2006/main" noGrp="1"/>
          </p:cNvSpPr>
          <p:nvPr/>
        </p:nvSpPr>
        <p:spPr>
          <a:xfrm xmlns:a="http://schemas.openxmlformats.org/drawingml/2006/main">
            <a:off x="476250" y="1466850"/>
            <a:ext cx="7562850" cy="4343400"/>
          </a:xfrm>
          <a:prstGeom xmlns:a="http://schemas.openxmlformats.org/drawingml/2006/main" prst="roundRect">
            <a:avLst>
              <a:gd name="adj" fmla="val 2632"/>
            </a:avLst>
          </a:prstGeom>
          <a:solidFill xmlns:a="http://schemas.openxmlformats.org/drawingml/2006/main">
            <a:srgbClr val="E6ECFF"/>
          </a:solidFill>
          <a:ln xmlns:a="http://schemas.openxmlformats.org/drawingml/2006/main" w="9525">
            <a:solidFill>
              <a:srgbClr val="C9D0DC"/>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e46a744a8434715"/>
          <a:stretch xmlns:a="http://schemas.openxmlformats.org/drawingml/2006/main"/>
        </p:blipFill>
        <p:spPr>
          <a:xfrm xmlns:a="http://schemas.openxmlformats.org/drawingml/2006/main">
            <a:off x="636168" y="1600200"/>
            <a:ext cx="7243013"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EBF993F-58A9-4A61-B99D-118A7BF33EF3}"/>
              </a:ext>
            </a:extLst>
          </p:cNvPr>
          <p:cNvSpPr>
            <a:spLocks xmlns:a="http://schemas.openxmlformats.org/drawingml/2006/main" noGrp="1"/>
          </p:cNvSpPr>
          <p:nvPr/>
        </p:nvSpPr>
        <p:spPr>
          <a:xfrm xmlns:a="http://schemas.openxmlformats.org/drawingml/2006/main">
            <a:off x="8515350" y="1638300"/>
            <a:ext cx="295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75" b="1">
                <a:solidFill>
                  <a:srgbClr val="101827"/>
                </a:solidFill>
                <a:latin typeface="Arial"/>
                <a:ea typeface="Arial"/>
                <a:cs typeface="Arial"/>
              </a:defRPr>
            </a:pPr>
            <a:r>
              <a:rPr sz="2175" b="1">
                <a:solidFill>
                  <a:srgbClr val="101827"/>
                </a:solidFill>
                <a:latin typeface="Arial"/>
                <a:ea typeface="Arial"/>
                <a:cs typeface="Arial"/>
              </a:rPr>
              <a:t>One pipeline,</a:t>
            </a:r>
          </a:p>
          <a:p xmlns:a="http://schemas.openxmlformats.org/drawingml/2006/main">
            <a:pPr algn="l">
              <a:defRPr sz="2175" b="1">
                <a:solidFill>
                  <a:srgbClr val="101827"/>
                </a:solidFill>
                <a:latin typeface="Arial"/>
                <a:ea typeface="Arial"/>
                <a:cs typeface="Arial"/>
              </a:defRPr>
            </a:pPr>
            <a:r>
              <a:rPr sz="2175" b="1">
                <a:solidFill>
                  <a:srgbClr val="101827"/>
                </a:solidFill>
                <a:latin typeface="Arial"/>
                <a:ea typeface="Arial"/>
                <a:cs typeface="Arial"/>
              </a:rPr>
              <a:t>three interfaces</a:t>
            </a:r>
          </a:p>
        </p:txBody>
      </p:sp>
      <p:sp>
        <p:nvSpPr>
          <p:cNvPr id="8" name="">
            <a:extLst xmlns:a="http://schemas.openxmlformats.org/drawingml/2006/main">
              <a:ext uri="{FF2B5EF4-FFF2-40B4-BE49-F238E27FC236}">
                <a16:creationId xmlns:a16="http://schemas.microsoft.com/office/drawing/2014/main" id="{AC31A886-99BE-4CF8-9829-7E1333153529}"/>
              </a:ext>
            </a:extLst>
          </p:cNvPr>
          <p:cNvSpPr>
            <a:spLocks xmlns:a="http://schemas.openxmlformats.org/drawingml/2006/main" noGrp="1"/>
          </p:cNvSpPr>
          <p:nvPr/>
        </p:nvSpPr>
        <p:spPr>
          <a:xfrm xmlns:a="http://schemas.openxmlformats.org/drawingml/2006/main">
            <a:off x="8515350" y="2819400"/>
            <a:ext cx="800100" cy="342900"/>
          </a:xfrm>
          <a:prstGeom xmlns:a="http://schemas.openxmlformats.org/drawingml/2006/main" prst="roundRect">
            <a:avLst>
              <a:gd name="adj" fmla="val 22222"/>
            </a:avLst>
          </a:prstGeom>
          <a:solidFill xmlns:a="http://schemas.openxmlformats.org/drawingml/2006/main">
            <a:srgbClr val="E6ECFF"/>
          </a:solidFill>
          <a:ln xmlns:a="http://schemas.openxmlformats.org/drawingml/2006/main" w="0">
            <a:solidFill>
              <a:srgbClr val="E6ECFF"/>
            </a:solidFill>
            <a:prstDash val="solid"/>
          </a:ln>
        </p:spPr>
      </p:sp>
      <p:sp>
        <p:nvSpPr>
          <p:cNvPr id="9" name="">
            <a:extLst xmlns:a="http://schemas.openxmlformats.org/drawingml/2006/main">
              <a:ext uri="{FF2B5EF4-FFF2-40B4-BE49-F238E27FC236}">
                <a16:creationId xmlns:a16="http://schemas.microsoft.com/office/drawing/2014/main" id="{3BACC890-1D7C-4CE9-A3E1-CCAB04B63706}"/>
              </a:ext>
            </a:extLst>
          </p:cNvPr>
          <p:cNvSpPr>
            <a:spLocks xmlns:a="http://schemas.openxmlformats.org/drawingml/2006/main" noGrp="1"/>
          </p:cNvSpPr>
          <p:nvPr/>
        </p:nvSpPr>
        <p:spPr>
          <a:xfrm xmlns:a="http://schemas.openxmlformats.org/drawingml/2006/main">
            <a:off x="8629650" y="28860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900" b="1">
                <a:solidFill>
                  <a:srgbClr val="3561DC"/>
                </a:solidFill>
                <a:latin typeface="Arial"/>
                <a:ea typeface="Arial"/>
                <a:cs typeface="Arial"/>
              </a:defRPr>
            </a:pPr>
            <a:r>
              <a:rPr sz="900" b="1">
                <a:solidFill>
                  <a:srgbClr val="3561DC"/>
                </a:solidFill>
                <a:latin typeface="Arial"/>
                <a:ea typeface="Arial"/>
                <a:cs typeface="Arial"/>
              </a:rPr>
              <a:t>CLI</a:t>
            </a:r>
          </a:p>
        </p:txBody>
      </p:sp>
      <p:sp>
        <p:nvSpPr>
          <p:cNvPr id="10" name="">
            <a:extLst xmlns:a="http://schemas.openxmlformats.org/drawingml/2006/main">
              <a:ext uri="{FF2B5EF4-FFF2-40B4-BE49-F238E27FC236}">
                <a16:creationId xmlns:a16="http://schemas.microsoft.com/office/drawing/2014/main" id="{20CF5B77-F614-47BE-90D8-66B341E802ED}"/>
              </a:ext>
            </a:extLst>
          </p:cNvPr>
          <p:cNvSpPr>
            <a:spLocks xmlns:a="http://schemas.openxmlformats.org/drawingml/2006/main" noGrp="1"/>
          </p:cNvSpPr>
          <p:nvPr/>
        </p:nvSpPr>
        <p:spPr>
          <a:xfrm xmlns:a="http://schemas.openxmlformats.org/drawingml/2006/main">
            <a:off x="9467850" y="28765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Direct technical use</a:t>
            </a:r>
          </a:p>
        </p:txBody>
      </p:sp>
      <p:sp>
        <p:nvSpPr>
          <p:cNvPr id="11" name="">
            <a:extLst xmlns:a="http://schemas.openxmlformats.org/drawingml/2006/main">
              <a:ext uri="{FF2B5EF4-FFF2-40B4-BE49-F238E27FC236}">
                <a16:creationId xmlns:a16="http://schemas.microsoft.com/office/drawing/2014/main" id="{BBA4FA1A-13D3-4050-87F2-B3811C188684}"/>
              </a:ext>
            </a:extLst>
          </p:cNvPr>
          <p:cNvSpPr>
            <a:spLocks xmlns:a="http://schemas.openxmlformats.org/drawingml/2006/main" noGrp="1"/>
          </p:cNvSpPr>
          <p:nvPr/>
        </p:nvSpPr>
        <p:spPr>
          <a:xfrm xmlns:a="http://schemas.openxmlformats.org/drawingml/2006/main">
            <a:off x="8515350" y="3352800"/>
            <a:ext cx="800100" cy="342900"/>
          </a:xfrm>
          <a:prstGeom xmlns:a="http://schemas.openxmlformats.org/drawingml/2006/main" prst="roundRect">
            <a:avLst>
              <a:gd name="adj" fmla="val 22222"/>
            </a:avLst>
          </a:prstGeom>
          <a:solidFill xmlns:a="http://schemas.openxmlformats.org/drawingml/2006/main">
            <a:srgbClr val="DFF5EA"/>
          </a:solidFill>
          <a:ln xmlns:a="http://schemas.openxmlformats.org/drawingml/2006/main" w="0">
            <a:solidFill>
              <a:srgbClr val="DFF5EA"/>
            </a:solidFill>
            <a:prstDash val="solid"/>
          </a:ln>
        </p:spPr>
      </p:sp>
      <p:sp>
        <p:nvSpPr>
          <p:cNvPr id="12" name="">
            <a:extLst xmlns:a="http://schemas.openxmlformats.org/drawingml/2006/main">
              <a:ext uri="{FF2B5EF4-FFF2-40B4-BE49-F238E27FC236}">
                <a16:creationId xmlns:a16="http://schemas.microsoft.com/office/drawing/2014/main" id="{4BC010AE-48D5-476E-B860-5398EA6BC369}"/>
              </a:ext>
            </a:extLst>
          </p:cNvPr>
          <p:cNvSpPr>
            <a:spLocks xmlns:a="http://schemas.openxmlformats.org/drawingml/2006/main" noGrp="1"/>
          </p:cNvSpPr>
          <p:nvPr/>
        </p:nvSpPr>
        <p:spPr>
          <a:xfrm xmlns:a="http://schemas.openxmlformats.org/drawingml/2006/main">
            <a:off x="8629650" y="34194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900" b="1">
                <a:solidFill>
                  <a:srgbClr val="1F9D65"/>
                </a:solidFill>
                <a:latin typeface="Arial"/>
                <a:ea typeface="Arial"/>
                <a:cs typeface="Arial"/>
              </a:defRPr>
            </a:pPr>
            <a:r>
              <a:rPr sz="900" b="1">
                <a:solidFill>
                  <a:srgbClr val="1F9D65"/>
                </a:solidFill>
                <a:latin typeface="Arial"/>
                <a:ea typeface="Arial"/>
                <a:cs typeface="Arial"/>
              </a:rPr>
              <a:t>API</a:t>
            </a:r>
          </a:p>
        </p:txBody>
      </p:sp>
      <p:sp>
        <p:nvSpPr>
          <p:cNvPr id="13" name="">
            <a:extLst xmlns:a="http://schemas.openxmlformats.org/drawingml/2006/main">
              <a:ext uri="{FF2B5EF4-FFF2-40B4-BE49-F238E27FC236}">
                <a16:creationId xmlns:a16="http://schemas.microsoft.com/office/drawing/2014/main" id="{5EF2B4F1-B5E5-44DC-8A40-43026928D6E6}"/>
              </a:ext>
            </a:extLst>
          </p:cNvPr>
          <p:cNvSpPr>
            <a:spLocks xmlns:a="http://schemas.openxmlformats.org/drawingml/2006/main" noGrp="1"/>
          </p:cNvSpPr>
          <p:nvPr/>
        </p:nvSpPr>
        <p:spPr>
          <a:xfrm xmlns:a="http://schemas.openxmlformats.org/drawingml/2006/main">
            <a:off x="9467850" y="3409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Health, sources, and answers</a:t>
            </a:r>
          </a:p>
        </p:txBody>
      </p:sp>
      <p:sp>
        <p:nvSpPr>
          <p:cNvPr id="14" name="">
            <a:extLst xmlns:a="http://schemas.openxmlformats.org/drawingml/2006/main">
              <a:ext uri="{FF2B5EF4-FFF2-40B4-BE49-F238E27FC236}">
                <a16:creationId xmlns:a16="http://schemas.microsoft.com/office/drawing/2014/main" id="{8D4A0C68-18F2-4F44-A8C5-92A8433320BD}"/>
              </a:ext>
            </a:extLst>
          </p:cNvPr>
          <p:cNvSpPr>
            <a:spLocks xmlns:a="http://schemas.openxmlformats.org/drawingml/2006/main" noGrp="1"/>
          </p:cNvSpPr>
          <p:nvPr/>
        </p:nvSpPr>
        <p:spPr>
          <a:xfrm xmlns:a="http://schemas.openxmlformats.org/drawingml/2006/main">
            <a:off x="8515350" y="3886200"/>
            <a:ext cx="800100" cy="342900"/>
          </a:xfrm>
          <a:prstGeom xmlns:a="http://schemas.openxmlformats.org/drawingml/2006/main" prst="roundRect">
            <a:avLst>
              <a:gd name="adj" fmla="val 22222"/>
            </a:avLst>
          </a:prstGeom>
          <a:solidFill xmlns:a="http://schemas.openxmlformats.org/drawingml/2006/main">
            <a:srgbClr val="FFF2D4"/>
          </a:solidFill>
          <a:ln xmlns:a="http://schemas.openxmlformats.org/drawingml/2006/main" w="0">
            <a:solidFill>
              <a:srgbClr val="FFF2D4"/>
            </a:solidFill>
            <a:prstDash val="solid"/>
          </a:ln>
        </p:spPr>
      </p:sp>
      <p:sp>
        <p:nvSpPr>
          <p:cNvPr id="15" name="">
            <a:extLst xmlns:a="http://schemas.openxmlformats.org/drawingml/2006/main">
              <a:ext uri="{FF2B5EF4-FFF2-40B4-BE49-F238E27FC236}">
                <a16:creationId xmlns:a16="http://schemas.microsoft.com/office/drawing/2014/main" id="{50DAF06D-C6D5-4FD2-AD1D-E2442005328E}"/>
              </a:ext>
            </a:extLst>
          </p:cNvPr>
          <p:cNvSpPr>
            <a:spLocks xmlns:a="http://schemas.openxmlformats.org/drawingml/2006/main" noGrp="1"/>
          </p:cNvSpPr>
          <p:nvPr/>
        </p:nvSpPr>
        <p:spPr>
          <a:xfrm xmlns:a="http://schemas.openxmlformats.org/drawingml/2006/main">
            <a:off x="8629650" y="3952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900" b="1">
                <a:solidFill>
                  <a:srgbClr val="A26A00"/>
                </a:solidFill>
                <a:latin typeface="Arial"/>
                <a:ea typeface="Arial"/>
                <a:cs typeface="Arial"/>
              </a:defRPr>
            </a:pPr>
            <a:r>
              <a:rPr sz="900" b="1">
                <a:solidFill>
                  <a:srgbClr val="A26A00"/>
                </a:solidFill>
                <a:latin typeface="Arial"/>
                <a:ea typeface="Arial"/>
                <a:cs typeface="Arial"/>
              </a:rPr>
              <a:t>WEB</a:t>
            </a:r>
          </a:p>
        </p:txBody>
      </p:sp>
      <p:sp>
        <p:nvSpPr>
          <p:cNvPr id="16" name="">
            <a:extLst xmlns:a="http://schemas.openxmlformats.org/drawingml/2006/main">
              <a:ext uri="{FF2B5EF4-FFF2-40B4-BE49-F238E27FC236}">
                <a16:creationId xmlns:a16="http://schemas.microsoft.com/office/drawing/2014/main" id="{D97F69C3-9C83-4AB4-B666-E682D269E25E}"/>
              </a:ext>
            </a:extLst>
          </p:cNvPr>
          <p:cNvSpPr>
            <a:spLocks xmlns:a="http://schemas.openxmlformats.org/drawingml/2006/main" noGrp="1"/>
          </p:cNvSpPr>
          <p:nvPr/>
        </p:nvSpPr>
        <p:spPr>
          <a:xfrm xmlns:a="http://schemas.openxmlformats.org/drawingml/2006/main">
            <a:off x="9467850" y="3943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Responsive learning experience</a:t>
            </a:r>
          </a:p>
        </p:txBody>
      </p:sp>
      <p:sp>
        <p:nvSpPr>
          <p:cNvPr id="17" name="">
            <a:extLst xmlns:a="http://schemas.openxmlformats.org/drawingml/2006/main">
              <a:ext uri="{FF2B5EF4-FFF2-40B4-BE49-F238E27FC236}">
                <a16:creationId xmlns:a16="http://schemas.microsoft.com/office/drawing/2014/main" id="{054E2E6F-1D6F-4FAE-A1FB-9A10B9D0779A}"/>
              </a:ext>
            </a:extLst>
          </p:cNvPr>
          <p:cNvSpPr>
            <a:spLocks xmlns:a="http://schemas.openxmlformats.org/drawingml/2006/main" noGrp="1"/>
          </p:cNvSpPr>
          <p:nvPr/>
        </p:nvSpPr>
        <p:spPr>
          <a:xfrm xmlns:a="http://schemas.openxmlformats.org/drawingml/2006/main">
            <a:off x="8515350" y="4629150"/>
            <a:ext cx="2952750" cy="1009650"/>
          </a:xfrm>
          <a:prstGeom xmlns:a="http://schemas.openxmlformats.org/drawingml/2006/main" prst="roundRect">
            <a:avLst>
              <a:gd name="adj" fmla="val 11321"/>
            </a:avLst>
          </a:prstGeom>
          <a:solidFill xmlns:a="http://schemas.openxmlformats.org/drawingml/2006/main">
            <a:srgbClr val="0B1020"/>
          </a:solidFill>
          <a:ln xmlns:a="http://schemas.openxmlformats.org/drawingml/2006/main" w="0">
            <a:solidFill>
              <a:srgbClr val="0B1020"/>
            </a:solidFill>
            <a:prstDash val="solid"/>
          </a:ln>
        </p:spPr>
      </p:sp>
      <p:sp>
        <p:nvSpPr>
          <p:cNvPr id="18" name="">
            <a:extLst xmlns:a="http://schemas.openxmlformats.org/drawingml/2006/main">
              <a:ext uri="{FF2B5EF4-FFF2-40B4-BE49-F238E27FC236}">
                <a16:creationId xmlns:a16="http://schemas.microsoft.com/office/drawing/2014/main" id="{84187BCA-F8C5-4571-8A96-17A08B34FD0F}"/>
              </a:ext>
            </a:extLst>
          </p:cNvPr>
          <p:cNvSpPr>
            <a:spLocks xmlns:a="http://schemas.openxmlformats.org/drawingml/2006/main" noGrp="1"/>
          </p:cNvSpPr>
          <p:nvPr/>
        </p:nvSpPr>
        <p:spPr>
          <a:xfrm xmlns:a="http://schemas.openxmlformats.org/drawingml/2006/main">
            <a:off x="8724900" y="4857750"/>
            <a:ext cx="2533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The public link is a UI preview.</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Real RAG remains local.</a:t>
            </a:r>
          </a:p>
        </p:txBody>
      </p:sp>
      <p:sp>
        <p:nvSpPr>
          <p:cNvPr id="19" name="">
            <a:extLst xmlns:a="http://schemas.openxmlformats.org/drawingml/2006/main">
              <a:ext uri="{FF2B5EF4-FFF2-40B4-BE49-F238E27FC236}">
                <a16:creationId xmlns:a16="http://schemas.microsoft.com/office/drawing/2014/main" id="{2833CCE0-D226-42EC-91FA-2E74A95233A5}"/>
              </a:ext>
            </a:extLst>
          </p:cNvPr>
          <p:cNvSpPr>
            <a:spLocks xmlns:a="http://schemas.openxmlformats.org/drawingml/2006/main" noGrp="1"/>
          </p:cNvSpPr>
          <p:nvPr/>
        </p:nvSpPr>
        <p:spPr>
          <a:xfrm xmlns:a="http://schemas.openxmlformats.org/drawingml/2006/main">
            <a:off x="533400" y="64960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defRPr sz="675" b="0">
                <a:solidFill>
                  <a:srgbClr val="5E687B"/>
                </a:solidFill>
                <a:latin typeface="Arial"/>
                <a:ea typeface="Arial"/>
                <a:cs typeface="Arial"/>
              </a:defRPr>
            </a:pPr>
            <a:r>
              <a:rPr sz="675" b="0">
                <a:solidFill>
                  <a:srgbClr val="5E687B"/>
                </a:solidFill>
                <a:latin typeface="Arial"/>
                <a:ea typeface="Arial"/>
                <a:cs typeface="Arial"/>
              </a:rPr>
              <a:t>Issues #20 and #37 · FastAPI + responsive web application</a:t>
            </a:r>
          </a:p>
        </p:txBody>
      </p:sp>
    </p:spTree>
    <p:extLst>
      <p:ext uri="{BB962C8B-B14F-4D97-AF65-F5344CB8AC3E}">
        <p14:creationId xmlns:p14="http://schemas.microsoft.com/office/powerpoint/2010/main" val="957684089"/>
      </p:ext>
    </p:extLst>
  </p:cSld>
</p:sld>
</file>

<file path=ppt/slides/slide9.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3E336FB-B804-4B71-897D-DD99B6837F25}"/>
              </a:ext>
            </a:extLst>
          </p:cNvPr>
          <p:cNvSpPr>
            <a:spLocks xmlns:a="http://schemas.openxmlformats.org/drawingml/2006/main" noGrp="1"/>
          </p:cNvSpPr>
          <p:nvPr/>
        </p:nvSpPr>
        <p:spPr>
          <a:xfrm xmlns:a="http://schemas.openxmlformats.org/drawingml/2006/main">
            <a:off x="552450" y="4191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46C2E8"/>
                </a:solidFill>
                <a:latin typeface="Arial"/>
                <a:ea typeface="Arial"/>
                <a:cs typeface="Arial"/>
              </a:defRPr>
            </a:pPr>
            <a:r>
              <a:rPr sz="1050" b="1">
                <a:solidFill>
                  <a:srgbClr val="46C2E8"/>
                </a:solidFill>
                <a:latin typeface="Arial"/>
                <a:ea typeface="Arial"/>
                <a:cs typeface="Arial"/>
              </a:rPr>
              <a:t>WHAT I LEARNED</a:t>
            </a:r>
          </a:p>
        </p:txBody>
      </p:sp>
      <p:sp>
        <p:nvSpPr>
          <p:cNvPr id="2" name="">
            <a:extLst xmlns:a="http://schemas.openxmlformats.org/drawingml/2006/main">
              <a:ext uri="{FF2B5EF4-FFF2-40B4-BE49-F238E27FC236}">
                <a16:creationId xmlns:a16="http://schemas.microsoft.com/office/drawing/2014/main" id="{6D91EF70-43C4-4877-846A-9913D82DCF42}"/>
              </a:ext>
            </a:extLst>
          </p:cNvPr>
          <p:cNvSpPr>
            <a:spLocks xmlns:a="http://schemas.openxmlformats.org/drawingml/2006/main" noGrp="1"/>
          </p:cNvSpPr>
          <p:nvPr/>
        </p:nvSpPr>
        <p:spPr>
          <a:xfrm xmlns:a="http://schemas.openxmlformats.org/drawingml/2006/main">
            <a:off x="552450" y="933450"/>
            <a:ext cx="74295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Local AI is a complete</a:t>
            </a:r>
          </a:p>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engineering system</a:t>
            </a:r>
          </a:p>
        </p:txBody>
      </p:sp>
      <p:sp>
        <p:nvSpPr>
          <p:cNvPr id="3" name="">
            <a:extLst xmlns:a="http://schemas.openxmlformats.org/drawingml/2006/main">
              <a:ext uri="{FF2B5EF4-FFF2-40B4-BE49-F238E27FC236}">
                <a16:creationId xmlns:a16="http://schemas.microsoft.com/office/drawing/2014/main" id="{3B627BE5-D056-4EBD-921C-941EAB1EC309}"/>
              </a:ext>
            </a:extLst>
          </p:cNvPr>
          <p:cNvSpPr>
            <a:spLocks xmlns:a="http://schemas.openxmlformats.org/drawingml/2006/main" noGrp="1"/>
          </p:cNvSpPr>
          <p:nvPr/>
        </p:nvSpPr>
        <p:spPr>
          <a:xfrm xmlns:a="http://schemas.openxmlformats.org/drawingml/2006/main">
            <a:off x="552450" y="2800350"/>
            <a:ext cx="2571750" cy="22479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C9D0DC"/>
            </a:solidFill>
            <a:prstDash val="solid"/>
          </a:ln>
        </p:spPr>
      </p:sp>
      <p:sp>
        <p:nvSpPr>
          <p:cNvPr id="4" name="">
            <a:extLst xmlns:a="http://schemas.openxmlformats.org/drawingml/2006/main">
              <a:ext uri="{FF2B5EF4-FFF2-40B4-BE49-F238E27FC236}">
                <a16:creationId xmlns:a16="http://schemas.microsoft.com/office/drawing/2014/main" id="{DA9C3C09-8007-48CC-A540-7C33C3B38C0D}"/>
              </a:ext>
            </a:extLst>
          </p:cNvPr>
          <p:cNvSpPr>
            <a:spLocks xmlns:a="http://schemas.openxmlformats.org/drawingml/2006/main" noGrp="1"/>
          </p:cNvSpPr>
          <p:nvPr/>
        </p:nvSpPr>
        <p:spPr>
          <a:xfrm xmlns:a="http://schemas.openxmlformats.org/drawingml/2006/main">
            <a:off x="762000" y="2990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55113AB-1DF5-4557-9078-CB8FDE31BC52}"/>
              </a:ext>
            </a:extLst>
          </p:cNvPr>
          <p:cNvSpPr>
            <a:spLocks xmlns:a="http://schemas.openxmlformats.org/drawingml/2006/main" noGrp="1"/>
          </p:cNvSpPr>
          <p:nvPr/>
        </p:nvSpPr>
        <p:spPr>
          <a:xfrm xmlns:a="http://schemas.openxmlformats.org/drawingml/2006/main">
            <a:off x="762000" y="3333750"/>
            <a:ext cx="2152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7"/>
                </a:solidFill>
                <a:latin typeface="Arial"/>
                <a:ea typeface="Arial"/>
                <a:cs typeface="Arial"/>
              </a:defRPr>
            </a:pPr>
            <a:r>
              <a:rPr sz="1650" b="1">
                <a:solidFill>
                  <a:srgbClr val="101827"/>
                </a:solidFill>
                <a:latin typeface="Arial"/>
                <a:ea typeface="Arial"/>
                <a:cs typeface="Arial"/>
              </a:rPr>
              <a:t>Measure decisions</a:t>
            </a:r>
          </a:p>
        </p:txBody>
      </p:sp>
      <p:sp>
        <p:nvSpPr>
          <p:cNvPr id="6" name="">
            <a:extLst xmlns:a="http://schemas.openxmlformats.org/drawingml/2006/main">
              <a:ext uri="{FF2B5EF4-FFF2-40B4-BE49-F238E27FC236}">
                <a16:creationId xmlns:a16="http://schemas.microsoft.com/office/drawing/2014/main" id="{E92FBC3F-E488-4418-B595-3BC06168502B}"/>
              </a:ext>
            </a:extLst>
          </p:cNvPr>
          <p:cNvSpPr>
            <a:spLocks xmlns:a="http://schemas.openxmlformats.org/drawingml/2006/main" noGrp="1"/>
          </p:cNvSpPr>
          <p:nvPr/>
        </p:nvSpPr>
        <p:spPr>
          <a:xfrm xmlns:a="http://schemas.openxmlformats.org/drawingml/2006/main">
            <a:off x="762000" y="3848100"/>
            <a:ext cx="2152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Thresholds, models, and prompts should change because evidence justifies the change.</a:t>
            </a:r>
          </a:p>
        </p:txBody>
      </p:sp>
      <p:sp>
        <p:nvSpPr>
          <p:cNvPr id="7" name="">
            <a:extLst xmlns:a="http://schemas.openxmlformats.org/drawingml/2006/main">
              <a:ext uri="{FF2B5EF4-FFF2-40B4-BE49-F238E27FC236}">
                <a16:creationId xmlns:a16="http://schemas.microsoft.com/office/drawing/2014/main" id="{B187B385-8B1D-4B80-A678-B8B7432C6288}"/>
              </a:ext>
            </a:extLst>
          </p:cNvPr>
          <p:cNvSpPr>
            <a:spLocks xmlns:a="http://schemas.openxmlformats.org/drawingml/2006/main" noGrp="1"/>
          </p:cNvSpPr>
          <p:nvPr/>
        </p:nvSpPr>
        <p:spPr>
          <a:xfrm xmlns:a="http://schemas.openxmlformats.org/drawingml/2006/main">
            <a:off x="3409950" y="2800350"/>
            <a:ext cx="2571750" cy="22479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C9D0DC"/>
            </a:solidFill>
            <a:prstDash val="solid"/>
          </a:ln>
        </p:spPr>
      </p:sp>
      <p:sp>
        <p:nvSpPr>
          <p:cNvPr id="8" name="">
            <a:extLst xmlns:a="http://schemas.openxmlformats.org/drawingml/2006/main">
              <a:ext uri="{FF2B5EF4-FFF2-40B4-BE49-F238E27FC236}">
                <a16:creationId xmlns:a16="http://schemas.microsoft.com/office/drawing/2014/main" id="{C0B51CD6-ED77-459A-996D-E47934F88F8A}"/>
              </a:ext>
            </a:extLst>
          </p:cNvPr>
          <p:cNvSpPr>
            <a:spLocks xmlns:a="http://schemas.openxmlformats.org/drawingml/2006/main" noGrp="1"/>
          </p:cNvSpPr>
          <p:nvPr/>
        </p:nvSpPr>
        <p:spPr>
          <a:xfrm xmlns:a="http://schemas.openxmlformats.org/drawingml/2006/main">
            <a:off x="3619500" y="2990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4CE12DD-E00F-4687-816E-EA40DE92B2CA}"/>
              </a:ext>
            </a:extLst>
          </p:cNvPr>
          <p:cNvSpPr>
            <a:spLocks xmlns:a="http://schemas.openxmlformats.org/drawingml/2006/main" noGrp="1"/>
          </p:cNvSpPr>
          <p:nvPr/>
        </p:nvSpPr>
        <p:spPr>
          <a:xfrm xmlns:a="http://schemas.openxmlformats.org/drawingml/2006/main">
            <a:off x="3619500" y="3333750"/>
            <a:ext cx="2152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7"/>
                </a:solidFill>
                <a:latin typeface="Arial"/>
                <a:ea typeface="Arial"/>
                <a:cs typeface="Arial"/>
              </a:defRPr>
            </a:pPr>
            <a:r>
              <a:rPr sz="1650" b="1">
                <a:solidFill>
                  <a:srgbClr val="101827"/>
                </a:solidFill>
                <a:latin typeface="Arial"/>
                <a:ea typeface="Arial"/>
                <a:cs typeface="Arial"/>
              </a:rPr>
              <a:t>Design for failure</a:t>
            </a:r>
          </a:p>
        </p:txBody>
      </p:sp>
      <p:sp>
        <p:nvSpPr>
          <p:cNvPr id="10" name="">
            <a:extLst xmlns:a="http://schemas.openxmlformats.org/drawingml/2006/main">
              <a:ext uri="{FF2B5EF4-FFF2-40B4-BE49-F238E27FC236}">
                <a16:creationId xmlns:a16="http://schemas.microsoft.com/office/drawing/2014/main" id="{BE750325-871A-406E-B731-6468A285DD75}"/>
              </a:ext>
            </a:extLst>
          </p:cNvPr>
          <p:cNvSpPr>
            <a:spLocks xmlns:a="http://schemas.openxmlformats.org/drawingml/2006/main" noGrp="1"/>
          </p:cNvSpPr>
          <p:nvPr/>
        </p:nvSpPr>
        <p:spPr>
          <a:xfrm xmlns:a="http://schemas.openxmlformats.org/drawingml/2006/main">
            <a:off x="3619500" y="3848100"/>
            <a:ext cx="2152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Fallback behavior and blind validation matter more than a polished happy-path demo.</a:t>
            </a:r>
          </a:p>
        </p:txBody>
      </p:sp>
      <p:sp>
        <p:nvSpPr>
          <p:cNvPr id="11" name="">
            <a:extLst xmlns:a="http://schemas.openxmlformats.org/drawingml/2006/main">
              <a:ext uri="{FF2B5EF4-FFF2-40B4-BE49-F238E27FC236}">
                <a16:creationId xmlns:a16="http://schemas.microsoft.com/office/drawing/2014/main" id="{01A1D9B2-2E4C-4C06-A042-B7A21B2392E5}"/>
              </a:ext>
            </a:extLst>
          </p:cNvPr>
          <p:cNvSpPr>
            <a:spLocks xmlns:a="http://schemas.openxmlformats.org/drawingml/2006/main" noGrp="1"/>
          </p:cNvSpPr>
          <p:nvPr/>
        </p:nvSpPr>
        <p:spPr>
          <a:xfrm xmlns:a="http://schemas.openxmlformats.org/drawingml/2006/main">
            <a:off x="6267450" y="2800350"/>
            <a:ext cx="2571750" cy="22479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C9D0DC"/>
            </a:solidFill>
            <a:prstDash val="solid"/>
          </a:ln>
        </p:spPr>
      </p:sp>
      <p:sp>
        <p:nvSpPr>
          <p:cNvPr id="12" name="">
            <a:extLst xmlns:a="http://schemas.openxmlformats.org/drawingml/2006/main">
              <a:ext uri="{FF2B5EF4-FFF2-40B4-BE49-F238E27FC236}">
                <a16:creationId xmlns:a16="http://schemas.microsoft.com/office/drawing/2014/main" id="{BBAD20F1-BDE2-4CD6-9A73-C3998F2F3A76}"/>
              </a:ext>
            </a:extLst>
          </p:cNvPr>
          <p:cNvSpPr>
            <a:spLocks xmlns:a="http://schemas.openxmlformats.org/drawingml/2006/main" noGrp="1"/>
          </p:cNvSpPr>
          <p:nvPr/>
        </p:nvSpPr>
        <p:spPr>
          <a:xfrm xmlns:a="http://schemas.openxmlformats.org/drawingml/2006/main">
            <a:off x="6477000" y="2990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9B2877B-9891-4F63-A894-C476519C361D}"/>
              </a:ext>
            </a:extLst>
          </p:cNvPr>
          <p:cNvSpPr>
            <a:spLocks xmlns:a="http://schemas.openxmlformats.org/drawingml/2006/main" noGrp="1"/>
          </p:cNvSpPr>
          <p:nvPr/>
        </p:nvSpPr>
        <p:spPr>
          <a:xfrm xmlns:a="http://schemas.openxmlformats.org/drawingml/2006/main">
            <a:off x="6477000" y="3333750"/>
            <a:ext cx="2152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7"/>
                </a:solidFill>
                <a:latin typeface="Arial"/>
                <a:ea typeface="Arial"/>
                <a:cs typeface="Arial"/>
              </a:defRPr>
            </a:pPr>
            <a:r>
              <a:rPr sz="1650" b="1">
                <a:solidFill>
                  <a:srgbClr val="101827"/>
                </a:solidFill>
                <a:latin typeface="Arial"/>
                <a:ea typeface="Arial"/>
                <a:cs typeface="Arial"/>
              </a:rPr>
              <a:t>Separate concerns</a:t>
            </a:r>
          </a:p>
        </p:txBody>
      </p:sp>
      <p:sp>
        <p:nvSpPr>
          <p:cNvPr id="14" name="">
            <a:extLst xmlns:a="http://schemas.openxmlformats.org/drawingml/2006/main">
              <a:ext uri="{FF2B5EF4-FFF2-40B4-BE49-F238E27FC236}">
                <a16:creationId xmlns:a16="http://schemas.microsoft.com/office/drawing/2014/main" id="{5A3D450A-A97C-4CF8-ABA0-6A7B20EE5CD5}"/>
              </a:ext>
            </a:extLst>
          </p:cNvPr>
          <p:cNvSpPr>
            <a:spLocks xmlns:a="http://schemas.openxmlformats.org/drawingml/2006/main" noGrp="1"/>
          </p:cNvSpPr>
          <p:nvPr/>
        </p:nvSpPr>
        <p:spPr>
          <a:xfrm xmlns:a="http://schemas.openxmlformats.org/drawingml/2006/main">
            <a:off x="6477000" y="3848100"/>
            <a:ext cx="2152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Reusable services let the CLI, API, web UI, and tests share one domain pipeline.</a:t>
            </a:r>
          </a:p>
        </p:txBody>
      </p:sp>
      <p:sp>
        <p:nvSpPr>
          <p:cNvPr id="15" name="">
            <a:extLst xmlns:a="http://schemas.openxmlformats.org/drawingml/2006/main">
              <a:ext uri="{FF2B5EF4-FFF2-40B4-BE49-F238E27FC236}">
                <a16:creationId xmlns:a16="http://schemas.microsoft.com/office/drawing/2014/main" id="{BB99C12A-A3FE-435A-BAC0-98AAA375372E}"/>
              </a:ext>
            </a:extLst>
          </p:cNvPr>
          <p:cNvSpPr>
            <a:spLocks xmlns:a="http://schemas.openxmlformats.org/drawingml/2006/main" noGrp="1"/>
          </p:cNvSpPr>
          <p:nvPr/>
        </p:nvSpPr>
        <p:spPr>
          <a:xfrm xmlns:a="http://schemas.openxmlformats.org/drawingml/2006/main">
            <a:off x="9124950" y="2800350"/>
            <a:ext cx="2571750" cy="22479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C9D0DC"/>
            </a:solidFill>
            <a:prstDash val="solid"/>
          </a:ln>
        </p:spPr>
      </p:sp>
      <p:sp>
        <p:nvSpPr>
          <p:cNvPr id="16" name="">
            <a:extLst xmlns:a="http://schemas.openxmlformats.org/drawingml/2006/main">
              <a:ext uri="{FF2B5EF4-FFF2-40B4-BE49-F238E27FC236}">
                <a16:creationId xmlns:a16="http://schemas.microsoft.com/office/drawing/2014/main" id="{78B47B74-DA16-4EFD-913A-3490178A2C8B}"/>
              </a:ext>
            </a:extLst>
          </p:cNvPr>
          <p:cNvSpPr>
            <a:spLocks xmlns:a="http://schemas.openxmlformats.org/drawingml/2006/main" noGrp="1"/>
          </p:cNvSpPr>
          <p:nvPr/>
        </p:nvSpPr>
        <p:spPr>
          <a:xfrm xmlns:a="http://schemas.openxmlformats.org/drawingml/2006/main">
            <a:off x="9334500" y="2990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3561DC"/>
                </a:solidFill>
                <a:latin typeface="Arial"/>
                <a:ea typeface="Arial"/>
                <a:cs typeface="Arial"/>
              </a:defRPr>
            </a:pPr>
            <a:r>
              <a:rPr sz="975" b="1">
                <a:solidFill>
                  <a:srgbClr val="3561D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72DBDB9E-3A50-45FC-B792-E90000A50FD5}"/>
              </a:ext>
            </a:extLst>
          </p:cNvPr>
          <p:cNvSpPr>
            <a:spLocks xmlns:a="http://schemas.openxmlformats.org/drawingml/2006/main" noGrp="1"/>
          </p:cNvSpPr>
          <p:nvPr/>
        </p:nvSpPr>
        <p:spPr>
          <a:xfrm xmlns:a="http://schemas.openxmlformats.org/drawingml/2006/main">
            <a:off x="9334500" y="3333750"/>
            <a:ext cx="2152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7"/>
                </a:solidFill>
                <a:latin typeface="Arial"/>
                <a:ea typeface="Arial"/>
                <a:cs typeface="Arial"/>
              </a:defRPr>
            </a:pPr>
            <a:r>
              <a:rPr sz="1650" b="1">
                <a:solidFill>
                  <a:srgbClr val="101827"/>
                </a:solidFill>
                <a:latin typeface="Arial"/>
                <a:ea typeface="Arial"/>
                <a:cs typeface="Arial"/>
              </a:rPr>
              <a:t>Document honestly</a:t>
            </a:r>
          </a:p>
        </p:txBody>
      </p:sp>
      <p:sp>
        <p:nvSpPr>
          <p:cNvPr id="18" name="">
            <a:extLst xmlns:a="http://schemas.openxmlformats.org/drawingml/2006/main">
              <a:ext uri="{FF2B5EF4-FFF2-40B4-BE49-F238E27FC236}">
                <a16:creationId xmlns:a16="http://schemas.microsoft.com/office/drawing/2014/main" id="{BB423018-6615-4D6E-9721-C79A8FCEC9FD}"/>
              </a:ext>
            </a:extLst>
          </p:cNvPr>
          <p:cNvSpPr>
            <a:spLocks xmlns:a="http://schemas.openxmlformats.org/drawingml/2006/main" noGrp="1"/>
          </p:cNvSpPr>
          <p:nvPr/>
        </p:nvSpPr>
        <p:spPr>
          <a:xfrm xmlns:a="http://schemas.openxmlformats.org/drawingml/2006/main">
            <a:off x="9334500" y="3848100"/>
            <a:ext cx="2152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E687B"/>
                </a:solidFill>
                <a:latin typeface="Arial"/>
                <a:ea typeface="Arial"/>
                <a:cs typeface="Arial"/>
              </a:defRPr>
            </a:pPr>
            <a:r>
              <a:rPr sz="1200" b="0">
                <a:solidFill>
                  <a:srgbClr val="5E687B"/>
                </a:solidFill>
                <a:latin typeface="Arial"/>
                <a:ea typeface="Arial"/>
                <a:cs typeface="Arial"/>
              </a:rPr>
              <a:t>Negative results and known limits are part of the engineering outcome.</a:t>
            </a:r>
          </a:p>
        </p:txBody>
      </p:sp>
      <p:sp>
        <p:nvSpPr>
          <p:cNvPr id="19" name="">
            <a:extLst xmlns:a="http://schemas.openxmlformats.org/drawingml/2006/main">
              <a:ext uri="{FF2B5EF4-FFF2-40B4-BE49-F238E27FC236}">
                <a16:creationId xmlns:a16="http://schemas.microsoft.com/office/drawing/2014/main" id="{2AAFD815-3D00-459A-AC8D-E8F925B39D26}"/>
              </a:ext>
            </a:extLst>
          </p:cNvPr>
          <p:cNvSpPr>
            <a:spLocks xmlns:a="http://schemas.openxmlformats.org/drawingml/2006/main" noGrp="1"/>
          </p:cNvSpPr>
          <p:nvPr/>
        </p:nvSpPr>
        <p:spPr>
          <a:xfrm xmlns:a="http://schemas.openxmlformats.org/drawingml/2006/main">
            <a:off x="1314450" y="5676900"/>
            <a:ext cx="956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725" b="1">
                <a:solidFill>
                  <a:srgbClr val="46C2E8"/>
                </a:solidFill>
                <a:latin typeface="Arial"/>
                <a:ea typeface="Arial"/>
                <a:cs typeface="Arial"/>
              </a:defRPr>
            </a:pPr>
            <a:r>
              <a:rPr sz="1725" b="1">
                <a:solidFill>
                  <a:srgbClr val="46C2E8"/>
                </a:solidFill>
                <a:latin typeface="Arial"/>
                <a:ea typeface="Arial"/>
                <a:cs typeface="Arial"/>
              </a:rPr>
              <a:t>I can now build, evaluate, and explain a private on-device AI application.</a:t>
            </a:r>
          </a:p>
        </p:txBody>
      </p:sp>
      <p:sp>
        <p:nvSpPr>
          <p:cNvPr id="20" name="">
            <a:extLst xmlns:a="http://schemas.openxmlformats.org/drawingml/2006/main">
              <a:ext uri="{FF2B5EF4-FFF2-40B4-BE49-F238E27FC236}">
                <a16:creationId xmlns:a16="http://schemas.microsoft.com/office/drawing/2014/main" id="{CFA100CD-4331-4E5F-A6D7-B0C6E30C9EA1}"/>
              </a:ext>
            </a:extLst>
          </p:cNvPr>
          <p:cNvSpPr>
            <a:spLocks xmlns:a="http://schemas.openxmlformats.org/drawingml/2006/main" noGrp="1"/>
          </p:cNvSpPr>
          <p:nvPr/>
        </p:nvSpPr>
        <p:spPr>
          <a:xfrm xmlns:a="http://schemas.openxmlformats.org/drawingml/2006/main">
            <a:off x="552450" y="64389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defRPr sz="750" b="0">
                <a:solidFill>
                  <a:srgbClr val="91A0BF"/>
                </a:solidFill>
                <a:latin typeface="Arial"/>
                <a:ea typeface="Arial"/>
                <a:cs typeface="Arial"/>
              </a:defRPr>
            </a:pPr>
            <a:r>
              <a:rPr sz="750" b="0">
                <a:solidFill>
                  <a:srgbClr val="91A0BF"/>
                </a:solidFill>
                <a:latin typeface="Arial"/>
                <a:ea typeface="Arial"/>
                <a:cs typeface="Arial"/>
              </a:rPr>
              <a:t>Bilgenur Pala · github.com/bilgenurpala/local-rag-assistant</a:t>
            </a:r>
          </a:p>
        </p:txBody>
      </p:sp>
    </p:spTree>
    <p:extLst>
      <p:ext uri="{BB962C8B-B14F-4D97-AF65-F5344CB8AC3E}">
        <p14:creationId xmlns:p14="http://schemas.microsoft.com/office/powerpoint/2010/main" val="1272799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2026-07-23T12:17:32.1880000Z</dcterms:created>
  <dcterms:modified xsi:type="dcterms:W3CDTF">2026-07-23T12:17:32.1880000Z</dcterms:modified>
</coreProperties>
</file>